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2.xml"/><Relationship Id="rId7" Type="http://schemas.openxmlformats.org/officeDocument/2006/relationships/slide" Target="slide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3.xml"/><Relationship Id="rId10" Type="http://schemas.openxmlformats.org/officeDocument/2006/relationships/slide" Target="slide14.xml"/><Relationship Id="rId4" Type="http://schemas.openxmlformats.org/officeDocument/2006/relationships/slide" Target="slide1.xml"/><Relationship Id="rId9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slide" Target="slide8.xml"/><Relationship Id="rId4" Type="http://schemas.openxmlformats.org/officeDocument/2006/relationships/slide" Target="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slide" Target="slide9.xml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0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slide" Target="slide11.xml"/><Relationship Id="rId4" Type="http://schemas.openxmlformats.org/officeDocument/2006/relationships/slide" Target="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slide" Target="slide12.xml"/><Relationship Id="rId4" Type="http://schemas.openxmlformats.org/officeDocument/2006/relationships/slide" Target="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slide" Target="slide13.xml"/><Relationship Id="rId4" Type="http://schemas.openxmlformats.org/officeDocument/2006/relationships/slide" Target="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slide" Target="slide14.xml"/><Relationship Id="rId4" Type="http://schemas.openxmlformats.org/officeDocument/2006/relationships/slide" Target="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slide" Target="slide15.xml"/><Relationship Id="rId4" Type="http://schemas.openxmlformats.org/officeDocument/2006/relationships/slide" Target="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7.xml"/><Relationship Id="rId4" Type="http://schemas.openxmlformats.org/officeDocument/2006/relationships/slide" Target="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4E1768B-1A91-4C02-B003-9DDEDFFB19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228600"/>
          </a:xfrm>
          <a:prstGeom prst="rect">
            <a:avLst/>
          </a:prstGeom>
          <a:solidFill>
            <a:srgbClr val="071A45"/>
          </a:solidFill>
          <a:ln w="0">
            <a:solidFill>
              <a:srgbClr val="071A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8D66FDD-3054-4157-B335-482960D0826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000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350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LEAK TRACKER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446DB80-FCC7-4FD5-8E49-C19A019F924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6858000" cy="200025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5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Полевой контроль
утечек газа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1BCEA0-9230-43B8-9DB3-FD702755B640}"/>
              </a:ext>
            </a:extLst>
          </p:cNvPr>
          <p:cNvSpPr>
            <a:spLocks noGrp="1"/>
          </p:cNvSpPr>
          <p:nvPr/>
        </p:nvSpPr>
        <p:spPr>
          <a:xfrm>
            <a:off x="647700" y="3905250"/>
            <a:ext cx="6762750" cy="8763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20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t>Android-приложение для нефтегазовых объектов: фото, GPS, статусы, мониторинг и отчёты без облака.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5CDB86A-5B87-4F0A-8505-6983F83C0C35}"/>
              </a:ext>
            </a:extLst>
          </p:cNvPr>
          <p:cNvSpPr>
            <a:spLocks noGrp="1"/>
          </p:cNvSpPr>
          <p:nvPr/>
        </p:nvSpPr>
        <p:spPr>
          <a:xfrm>
            <a:off x="647700" y="6115050"/>
            <a:ext cx="3143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1050" b="1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t>РУССКАЯ ВЕРСИЯ · 2026</a:t>
            </a:r>
          </a:p>
        </p:txBody>
      </p:sp>
      <p:sp>
        <p:nvSpPr>
          <p:cNvPr id="6" name="cover-logo-frame">
            <a:extLst>
              <a:ext uri="{FF2B5EF4-FFF2-40B4-BE49-F238E27FC236}">
                <a16:creationId xmlns:a16="http://schemas.microsoft.com/office/drawing/2014/main" id="{2BCDE9D3-A7E7-4E6F-925A-3F1F320F3200}"/>
              </a:ext>
            </a:extLst>
          </p:cNvPr>
          <p:cNvSpPr>
            <a:spLocks noGrp="1"/>
          </p:cNvSpPr>
          <p:nvPr/>
        </p:nvSpPr>
        <p:spPr>
          <a:xfrm>
            <a:off x="8096250" y="1028700"/>
            <a:ext cx="3048000" cy="3048000"/>
          </a:xfrm>
          <a:prstGeom prst="roundRect">
            <a:avLst>
              <a:gd name="adj" fmla="val 3750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24875" y="1428750"/>
            <a:ext cx="2190750" cy="2190750"/>
          </a:xfrm>
          <a:prstGeom prst="rect">
            <a:avLst/>
          </a:prstGeom>
        </p:spPr>
      </p:pic>
      <p:sp>
        <p:nvSpPr>
          <p:cNvPr id="8" name="link-ОТКРЫТЬ РУКОВОДСТВО  →">
            <a:hlinkClick r:id="rId4" action="ppaction://hlinksldjump"/>
            <a:extLst>
              <a:ext uri="{FF2B5EF4-FFF2-40B4-BE49-F238E27FC236}">
                <a16:creationId xmlns:a16="http://schemas.microsoft.com/office/drawing/2014/main" id="{D74E6A95-D424-435B-91C6-73017B281762}"/>
              </a:ext>
            </a:extLst>
          </p:cNvPr>
          <p:cNvSpPr>
            <a:spLocks noGrp="1"/>
          </p:cNvSpPr>
          <p:nvPr/>
        </p:nvSpPr>
        <p:spPr>
          <a:xfrm>
            <a:off x="8096250" y="4495800"/>
            <a:ext cx="3048000" cy="590550"/>
          </a:xfrm>
          <a:prstGeom prst="roundRect">
            <a:avLst>
              <a:gd name="adj" fmla="val 12903"/>
            </a:avLst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ОТКРЫТЬ РУКОВОДСТВО  →</a:t>
            </a:r>
          </a:p>
        </p:txBody>
      </p:sp>
    </p:spTree>
    <p:extLst>
      <p:ext uri="{BB962C8B-B14F-4D97-AF65-F5344CB8AC3E}">
        <p14:creationId xmlns:p14="http://schemas.microsoft.com/office/powerpoint/2010/main" val="962910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ection-2">
            <a:extLst>
              <a:ext uri="{FF2B5EF4-FFF2-40B4-BE49-F238E27FC236}">
                <a16:creationId xmlns:a16="http://schemas.microsoft.com/office/drawing/2014/main" id="{987222DE-6E1E-4382-8EFC-FC53DC48A9EF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30480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О ПРОГРАММЕ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24DC0636-FDFA-44DB-9EAE-458433278F40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1125200" cy="59055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Что такое Leak Tracker</a:t>
            </a:r>
          </a:p>
        </p:txBody>
      </p:sp>
      <p:sp>
        <p:nvSpPr>
          <p:cNvPr id="3" name="rule-2">
            <a:extLst>
              <a:ext uri="{FF2B5EF4-FFF2-40B4-BE49-F238E27FC236}">
                <a16:creationId xmlns:a16="http://schemas.microsoft.com/office/drawing/2014/main" id="{CB6ADBD7-EF61-4183-9F14-F9B283039840}"/>
              </a:ext>
            </a:extLst>
          </p:cNvPr>
          <p:cNvSpPr>
            <a:spLocks noGrp="1"/>
          </p:cNvSpPr>
          <p:nvPr/>
        </p:nvSpPr>
        <p:spPr>
          <a:xfrm>
            <a:off x="523875" y="1314450"/>
            <a:ext cx="228600" cy="228600"/>
          </a:xfrm>
          <a:prstGeom prst="rect">
            <a:avLst/>
          </a:prstGeom>
          <a:solidFill>
            <a:srgbClr val="D8DDE6"/>
          </a:solidFill>
          <a:ln w="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-number-2">
            <a:extLst>
              <a:ext uri="{FF2B5EF4-FFF2-40B4-BE49-F238E27FC236}">
                <a16:creationId xmlns:a16="http://schemas.microsoft.com/office/drawing/2014/main" id="{B5CC8FF5-2597-494B-ABB4-02BB05DF07E6}"/>
              </a:ext>
            </a:extLst>
          </p:cNvPr>
          <p:cNvSpPr>
            <a:spLocks noGrp="1"/>
          </p:cNvSpPr>
          <p:nvPr/>
        </p:nvSpPr>
        <p:spPr>
          <a:xfrm>
            <a:off x="523875" y="64293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link-РАЗДЕЛЫ">
            <a:hlinkClick r:id="rId3" action="ppaction://hlinksldjump"/>
            <a:extLst>
              <a:ext uri="{FF2B5EF4-FFF2-40B4-BE49-F238E27FC236}">
                <a16:creationId xmlns:a16="http://schemas.microsoft.com/office/drawing/2014/main" id="{A509AAA6-C1BB-4CDD-B9B0-EF6BC90C1EEB}"/>
              </a:ext>
            </a:extLst>
          </p:cNvPr>
          <p:cNvSpPr>
            <a:spLocks noGrp="1"/>
          </p:cNvSpPr>
          <p:nvPr/>
        </p:nvSpPr>
        <p:spPr>
          <a:xfrm>
            <a:off x="8648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РАЗДЕЛЫ</a:t>
            </a:r>
          </a:p>
        </p:txBody>
      </p:sp>
      <p:sp>
        <p:nvSpPr>
          <p:cNvPr id="6" name="link-←">
            <a:hlinkClick r:id="rId4" action="ppaction://hlinksldjump"/>
            <a:extLst>
              <a:ext uri="{FF2B5EF4-FFF2-40B4-BE49-F238E27FC236}">
                <a16:creationId xmlns:a16="http://schemas.microsoft.com/office/drawing/2014/main" id="{B1854203-3177-4289-AAA5-2429DA374BC1}"/>
              </a:ext>
            </a:extLst>
          </p:cNvPr>
          <p:cNvSpPr>
            <a:spLocks noGrp="1"/>
          </p:cNvSpPr>
          <p:nvPr/>
        </p:nvSpPr>
        <p:spPr>
          <a:xfrm>
            <a:off x="9867900" y="630555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7" name="link-→">
            <a:hlinkClick r:id="rId5" action="ppaction://hlinksldjump"/>
            <a:extLst>
              <a:ext uri="{FF2B5EF4-FFF2-40B4-BE49-F238E27FC236}">
                <a16:creationId xmlns:a16="http://schemas.microsoft.com/office/drawing/2014/main" id="{B44A47D8-2424-4DEB-99F5-5FA61538B306}"/>
              </a:ext>
            </a:extLst>
          </p:cNvPr>
          <p:cNvSpPr>
            <a:spLocks noGrp="1"/>
          </p:cNvSpPr>
          <p:nvPr/>
        </p:nvSpPr>
        <p:spPr>
          <a:xfrm>
            <a:off x="10553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menu-row-0">
            <a:extLst>
              <a:ext uri="{FF2B5EF4-FFF2-40B4-BE49-F238E27FC236}">
                <a16:creationId xmlns:a16="http://schemas.microsoft.com/office/drawing/2014/main" id="{3B68C7FA-FFF6-4119-9836-84A56F8E0D52}"/>
              </a:ext>
            </a:extLst>
          </p:cNvPr>
          <p:cNvSpPr>
            <a:spLocks noGrp="1"/>
          </p:cNvSpPr>
          <p:nvPr/>
        </p:nvSpPr>
        <p:spPr>
          <a:xfrm>
            <a:off x="523875" y="1562100"/>
            <a:ext cx="11125200" cy="590550"/>
          </a:xfrm>
          <a:prstGeom prst="rect">
            <a:avLst/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menu-num-0">
            <a:extLst>
              <a:ext uri="{FF2B5EF4-FFF2-40B4-BE49-F238E27FC236}">
                <a16:creationId xmlns:a16="http://schemas.microsoft.com/office/drawing/2014/main" id="{D2B0B613-6C5A-48AF-BAF0-0FFA56D319F4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link-Первый запуск и проект">
            <a:hlinkClick r:id="rId5" action="ppaction://hlinksldjump"/>
            <a:extLst>
              <a:ext uri="{FF2B5EF4-FFF2-40B4-BE49-F238E27FC236}">
                <a16:creationId xmlns:a16="http://schemas.microsoft.com/office/drawing/2014/main" id="{C698154D-1486-4EF8-B86A-1A4FD338789C}"/>
              </a:ext>
            </a:extLst>
          </p:cNvPr>
          <p:cNvSpPr>
            <a:spLocks noGrp="1"/>
          </p:cNvSpPr>
          <p:nvPr/>
        </p:nvSpPr>
        <p:spPr>
          <a:xfrm>
            <a:off x="1447800" y="1638300"/>
            <a:ext cx="409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0" rIns="76200" bIns="0" anchor="ctr"/>
          <a:lstStyle/>
          <a:p>
            <a:pPr algn="l">
              <a:buNone/>
            </a:pPr>
            <a:r>
              <a:rPr sz="1650" b="1" u="sng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Полевой учёт утечек</a:t>
            </a:r>
          </a:p>
        </p:txBody>
      </p:sp>
      <p:sp>
        <p:nvSpPr>
          <p:cNvPr id="11" name="menu-desc-0">
            <a:extLst>
              <a:ext uri="{FF2B5EF4-FFF2-40B4-BE49-F238E27FC236}">
                <a16:creationId xmlns:a16="http://schemas.microsoft.com/office/drawing/2014/main" id="{3B21D56C-C66C-4EA1-94AA-98B622FDE529}"/>
              </a:ext>
            </a:extLst>
          </p:cNvPr>
          <p:cNvSpPr>
            <a:spLocks noGrp="1"/>
          </p:cNvSpPr>
          <p:nvPr/>
        </p:nvSpPr>
        <p:spPr>
          <a:xfrm>
            <a:off x="5810250" y="1724025"/>
            <a:ext cx="538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Фото, GPS, измерения и расчёт прямо на объекте</a:t>
            </a:r>
          </a:p>
        </p:txBody>
      </p:sp>
      <p:sp>
        <p:nvSpPr>
          <p:cNvPr id="12" name="menu-row-1">
            <a:extLst>
              <a:ext uri="{FF2B5EF4-FFF2-40B4-BE49-F238E27FC236}">
                <a16:creationId xmlns:a16="http://schemas.microsoft.com/office/drawing/2014/main" id="{3054C3B2-ADAD-4762-93F9-D40A8495DC27}"/>
              </a:ext>
            </a:extLst>
          </p:cNvPr>
          <p:cNvSpPr>
            <a:spLocks noGrp="1"/>
          </p:cNvSpPr>
          <p:nvPr/>
        </p:nvSpPr>
        <p:spPr>
          <a:xfrm>
            <a:off x="523875" y="2286000"/>
            <a:ext cx="111252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menu-num-1">
            <a:extLst>
              <a:ext uri="{FF2B5EF4-FFF2-40B4-BE49-F238E27FC236}">
                <a16:creationId xmlns:a16="http://schemas.microsoft.com/office/drawing/2014/main" id="{CCA1888C-9D6E-4E80-9FEC-9D0E8CDC1F3D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link-Регистрация утечки">
            <a:hlinkClick r:id="rId6" action="ppaction://hlinksldjump"/>
            <a:extLst>
              <a:ext uri="{FF2B5EF4-FFF2-40B4-BE49-F238E27FC236}">
                <a16:creationId xmlns:a16="http://schemas.microsoft.com/office/drawing/2014/main" id="{7CBFA68B-C61B-42F3-A966-26B7744E6B16}"/>
              </a:ext>
            </a:extLst>
          </p:cNvPr>
          <p:cNvSpPr>
            <a:spLocks noGrp="1"/>
          </p:cNvSpPr>
          <p:nvPr/>
        </p:nvSpPr>
        <p:spPr>
          <a:xfrm>
            <a:off x="1447800" y="2362200"/>
            <a:ext cx="409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0" rIns="76200" bIns="0" anchor="ctr"/>
          <a:lstStyle/>
          <a:p>
            <a:pPr algn="l">
              <a:buNone/>
            </a:pPr>
            <a:r>
              <a:rPr sz="1650" b="1" u="sng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Ремонт и повторный контроль</a:t>
            </a:r>
          </a:p>
        </p:txBody>
      </p:sp>
      <p:sp>
        <p:nvSpPr>
          <p:cNvPr id="15" name="menu-desc-1">
            <a:extLst>
              <a:ext uri="{FF2B5EF4-FFF2-40B4-BE49-F238E27FC236}">
                <a16:creationId xmlns:a16="http://schemas.microsoft.com/office/drawing/2014/main" id="{3DBF8AAA-82E6-44D0-B871-CA00D27942C3}"/>
              </a:ext>
            </a:extLst>
          </p:cNvPr>
          <p:cNvSpPr>
            <a:spLocks noGrp="1"/>
          </p:cNvSpPr>
          <p:nvPr/>
        </p:nvSpPr>
        <p:spPr>
          <a:xfrm>
            <a:off x="5810250" y="2447925"/>
            <a:ext cx="538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Статусы, история изменений и результаты обходов</a:t>
            </a:r>
          </a:p>
        </p:txBody>
      </p:sp>
      <p:sp>
        <p:nvSpPr>
          <p:cNvPr id="16" name="menu-row-2">
            <a:extLst>
              <a:ext uri="{FF2B5EF4-FFF2-40B4-BE49-F238E27FC236}">
                <a16:creationId xmlns:a16="http://schemas.microsoft.com/office/drawing/2014/main" id="{93B2990F-1386-42EC-8EB1-813FFB4E7AD5}"/>
              </a:ext>
            </a:extLst>
          </p:cNvPr>
          <p:cNvSpPr>
            <a:spLocks noGrp="1"/>
          </p:cNvSpPr>
          <p:nvPr/>
        </p:nvSpPr>
        <p:spPr>
          <a:xfrm>
            <a:off x="523875" y="3009900"/>
            <a:ext cx="11125200" cy="590550"/>
          </a:xfrm>
          <a:prstGeom prst="rect">
            <a:avLst/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menu-num-2">
            <a:extLst>
              <a:ext uri="{FF2B5EF4-FFF2-40B4-BE49-F238E27FC236}">
                <a16:creationId xmlns:a16="http://schemas.microsoft.com/office/drawing/2014/main" id="{7D64A4CC-736D-4568-8A5C-2C6F97C665D0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link-База и статусы">
            <a:hlinkClick r:id="rId7" action="ppaction://hlinksldjump"/>
            <a:extLst>
              <a:ext uri="{FF2B5EF4-FFF2-40B4-BE49-F238E27FC236}">
                <a16:creationId xmlns:a16="http://schemas.microsoft.com/office/drawing/2014/main" id="{2EACA479-87AA-4106-ADEF-17F25C25AFBB}"/>
              </a:ext>
            </a:extLst>
          </p:cNvPr>
          <p:cNvSpPr>
            <a:spLocks noGrp="1"/>
          </p:cNvSpPr>
          <p:nvPr/>
        </p:nvSpPr>
        <p:spPr>
          <a:xfrm>
            <a:off x="1447800" y="3086100"/>
            <a:ext cx="409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0" rIns="76200" bIns="0" anchor="ctr"/>
          <a:lstStyle/>
          <a:p>
            <a:pPr algn="l">
              <a:buNone/>
            </a:pPr>
            <a:r>
              <a:rPr sz="1650" b="1" u="sng">
                <a:solidFill>
                  <a:srgbClr val="111111"/>
                </a:solidFill>
                <a:latin typeface="Arial"/>
                <a:ea typeface="Arial"/>
                <a:cs typeface="Arial"/>
              </a:rPr>
              <a:t>Единая база проекта</a:t>
            </a:r>
          </a:p>
        </p:txBody>
      </p:sp>
      <p:sp>
        <p:nvSpPr>
          <p:cNvPr id="19" name="menu-desc-2">
            <a:extLst>
              <a:ext uri="{FF2B5EF4-FFF2-40B4-BE49-F238E27FC236}">
                <a16:creationId xmlns:a16="http://schemas.microsoft.com/office/drawing/2014/main" id="{6AE24490-0B3A-4F3B-B9AE-C71CF6BD17B3}"/>
              </a:ext>
            </a:extLst>
          </p:cNvPr>
          <p:cNvSpPr>
            <a:spLocks noGrp="1"/>
          </p:cNvSpPr>
          <p:nvPr/>
        </p:nvSpPr>
        <p:spPr>
          <a:xfrm>
            <a:off x="5810250" y="3171825"/>
            <a:ext cx="538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Поиск, фильтры, приоритеты и карточка каждой утечки</a:t>
            </a:r>
          </a:p>
        </p:txBody>
      </p:sp>
      <p:sp>
        <p:nvSpPr>
          <p:cNvPr id="20" name="menu-row-3">
            <a:extLst>
              <a:ext uri="{FF2B5EF4-FFF2-40B4-BE49-F238E27FC236}">
                <a16:creationId xmlns:a16="http://schemas.microsoft.com/office/drawing/2014/main" id="{D669CFB7-B0B7-4349-BBA9-F06F5395B0CE}"/>
              </a:ext>
            </a:extLst>
          </p:cNvPr>
          <p:cNvSpPr>
            <a:spLocks noGrp="1"/>
          </p:cNvSpPr>
          <p:nvPr/>
        </p:nvSpPr>
        <p:spPr>
          <a:xfrm>
            <a:off x="523875" y="3733800"/>
            <a:ext cx="111252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menu-num-3">
            <a:extLst>
              <a:ext uri="{FF2B5EF4-FFF2-40B4-BE49-F238E27FC236}">
                <a16:creationId xmlns:a16="http://schemas.microsoft.com/office/drawing/2014/main" id="{DA4FA692-5BE4-4993-80CF-20180FA7B7F5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link-Мониторинг">
            <a:hlinkClick r:id="rId8" action="ppaction://hlinksldjump"/>
            <a:extLst>
              <a:ext uri="{FF2B5EF4-FFF2-40B4-BE49-F238E27FC236}">
                <a16:creationId xmlns:a16="http://schemas.microsoft.com/office/drawing/2014/main" id="{02348188-C282-4A01-AE0A-C081E2F6ACA4}"/>
              </a:ext>
            </a:extLst>
          </p:cNvPr>
          <p:cNvSpPr>
            <a:spLocks noGrp="1"/>
          </p:cNvSpPr>
          <p:nvPr/>
        </p:nvSpPr>
        <p:spPr>
          <a:xfrm>
            <a:off x="1447800" y="3810000"/>
            <a:ext cx="409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0" rIns="76200" bIns="0" anchor="ctr"/>
          <a:lstStyle/>
          <a:p>
            <a:pPr algn="l">
              <a:buNone/>
            </a:pPr>
            <a:r>
              <a:rPr sz="1650" b="1" u="sng">
                <a:solidFill>
                  <a:srgbClr val="111111"/>
                </a:solidFill>
                <a:latin typeface="Arial"/>
                <a:ea typeface="Arial"/>
                <a:cs typeface="Arial"/>
              </a:rPr>
              <a:t>Карта без интернета</a:t>
            </a:r>
          </a:p>
        </p:txBody>
      </p:sp>
      <p:sp>
        <p:nvSpPr>
          <p:cNvPr id="23" name="menu-desc-3">
            <a:extLst>
              <a:ext uri="{FF2B5EF4-FFF2-40B4-BE49-F238E27FC236}">
                <a16:creationId xmlns:a16="http://schemas.microsoft.com/office/drawing/2014/main" id="{14CF6240-7DCE-41D7-999F-E03ACABA33F8}"/>
              </a:ext>
            </a:extLst>
          </p:cNvPr>
          <p:cNvSpPr>
            <a:spLocks noGrp="1"/>
          </p:cNvSpPr>
          <p:nvPr/>
        </p:nvSpPr>
        <p:spPr>
          <a:xfrm>
            <a:off x="5810250" y="3895725"/>
            <a:ext cx="538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Офлайн-тайлы, геопозиция и KML для видимых объектов</a:t>
            </a:r>
          </a:p>
        </p:txBody>
      </p:sp>
      <p:sp>
        <p:nvSpPr>
          <p:cNvPr id="24" name="menu-row-4">
            <a:extLst>
              <a:ext uri="{FF2B5EF4-FFF2-40B4-BE49-F238E27FC236}">
                <a16:creationId xmlns:a16="http://schemas.microsoft.com/office/drawing/2014/main" id="{9F5BF351-9202-44D7-9118-2D993DACF6A4}"/>
              </a:ext>
            </a:extLst>
          </p:cNvPr>
          <p:cNvSpPr>
            <a:spLocks noGrp="1"/>
          </p:cNvSpPr>
          <p:nvPr/>
        </p:nvSpPr>
        <p:spPr>
          <a:xfrm>
            <a:off x="523875" y="4457700"/>
            <a:ext cx="11125200" cy="590550"/>
          </a:xfrm>
          <a:prstGeom prst="rect">
            <a:avLst/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menu-num-4">
            <a:extLst>
              <a:ext uri="{FF2B5EF4-FFF2-40B4-BE49-F238E27FC236}">
                <a16:creationId xmlns:a16="http://schemas.microsoft.com/office/drawing/2014/main" id="{354BFD4C-43EE-4B75-81CF-60743FE1383F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link-Карта">
            <a:hlinkClick r:id="rId9" action="ppaction://hlinksldjump"/>
            <a:extLst>
              <a:ext uri="{FF2B5EF4-FFF2-40B4-BE49-F238E27FC236}">
                <a16:creationId xmlns:a16="http://schemas.microsoft.com/office/drawing/2014/main" id="{8AC8E528-67DC-476A-9185-4A8A8B8BC4C2}"/>
              </a:ext>
            </a:extLst>
          </p:cNvPr>
          <p:cNvSpPr>
            <a:spLocks noGrp="1"/>
          </p:cNvSpPr>
          <p:nvPr/>
        </p:nvSpPr>
        <p:spPr>
          <a:xfrm>
            <a:off x="1447800" y="4533900"/>
            <a:ext cx="409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0" rIns="76200" bIns="0" anchor="ctr"/>
          <a:lstStyle/>
          <a:p>
            <a:pPr algn="l">
              <a:buNone/>
            </a:pPr>
            <a:r>
              <a:rPr sz="1650" b="1" u="sng">
                <a:solidFill>
                  <a:srgbClr val="111111"/>
                </a:solidFill>
                <a:latin typeface="Arial"/>
                <a:ea typeface="Arial"/>
                <a:cs typeface="Arial"/>
              </a:rPr>
              <a:t>Готовая отчётность</a:t>
            </a:r>
          </a:p>
        </p:txBody>
      </p:sp>
      <p:sp>
        <p:nvSpPr>
          <p:cNvPr id="27" name="menu-desc-4">
            <a:extLst>
              <a:ext uri="{FF2B5EF4-FFF2-40B4-BE49-F238E27FC236}">
                <a16:creationId xmlns:a16="http://schemas.microsoft.com/office/drawing/2014/main" id="{BFA16CDB-607C-4446-BCCE-593AC5DFB81F}"/>
              </a:ext>
            </a:extLst>
          </p:cNvPr>
          <p:cNvSpPr>
            <a:spLocks noGrp="1"/>
          </p:cNvSpPr>
          <p:nvPr/>
        </p:nvSpPr>
        <p:spPr>
          <a:xfrm>
            <a:off x="5810250" y="4619625"/>
            <a:ext cx="538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Excel с фото, мониторингом и полным снимком проекта</a:t>
            </a:r>
          </a:p>
        </p:txBody>
      </p:sp>
      <p:sp>
        <p:nvSpPr>
          <p:cNvPr id="28" name="menu-row-5">
            <a:extLst>
              <a:ext uri="{FF2B5EF4-FFF2-40B4-BE49-F238E27FC236}">
                <a16:creationId xmlns:a16="http://schemas.microsoft.com/office/drawing/2014/main" id="{4C030E78-C187-4346-9615-48C413838E36}"/>
              </a:ext>
            </a:extLst>
          </p:cNvPr>
          <p:cNvSpPr>
            <a:spLocks noGrp="1"/>
          </p:cNvSpPr>
          <p:nvPr/>
        </p:nvSpPr>
        <p:spPr>
          <a:xfrm>
            <a:off x="523875" y="5181600"/>
            <a:ext cx="111252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menu-num-5">
            <a:extLst>
              <a:ext uri="{FF2B5EF4-FFF2-40B4-BE49-F238E27FC236}">
                <a16:creationId xmlns:a16="http://schemas.microsoft.com/office/drawing/2014/main" id="{C45EDD01-4701-4F07-AA50-488AA4F7F3B8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link-Настройки и перенос данных">
            <a:hlinkClick r:id="rId10" action="ppaction://hlinksldjump"/>
            <a:extLst>
              <a:ext uri="{FF2B5EF4-FFF2-40B4-BE49-F238E27FC236}">
                <a16:creationId xmlns:a16="http://schemas.microsoft.com/office/drawing/2014/main" id="{8B1E75F6-56F1-46FD-90FF-6615B3CF09AE}"/>
              </a:ext>
            </a:extLst>
          </p:cNvPr>
          <p:cNvSpPr>
            <a:spLocks noGrp="1"/>
          </p:cNvSpPr>
          <p:nvPr/>
        </p:nvSpPr>
        <p:spPr>
          <a:xfrm>
            <a:off x="1447800" y="5257800"/>
            <a:ext cx="409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0" rIns="76200" bIns="0" anchor="ctr"/>
          <a:lstStyle/>
          <a:p>
            <a:pPr algn="l">
              <a:buNone/>
            </a:pPr>
            <a:r>
              <a:rPr sz="1650" b="1" u="sng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Перенос без облака</a:t>
            </a:r>
          </a:p>
        </p:txBody>
      </p:sp>
      <p:sp>
        <p:nvSpPr>
          <p:cNvPr id="31" name="menu-desc-5">
            <a:extLst>
              <a:ext uri="{FF2B5EF4-FFF2-40B4-BE49-F238E27FC236}">
                <a16:creationId xmlns:a16="http://schemas.microsoft.com/office/drawing/2014/main" id="{9FF4A9EC-2294-4685-BA53-918570E85220}"/>
              </a:ext>
            </a:extLst>
          </p:cNvPr>
          <p:cNvSpPr>
            <a:spLocks noGrp="1"/>
          </p:cNvSpPr>
          <p:nvPr/>
        </p:nvSpPr>
        <p:spPr>
          <a:xfrm>
            <a:off x="5810250" y="5343525"/>
            <a:ext cx="538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ZIP, Excel-архив и локальная Wi-Fi синхронизация Android</a:t>
            </a:r>
          </a:p>
        </p:txBody>
      </p:sp>
    </p:spTree>
    <p:extLst>
      <p:ext uri="{BB962C8B-B14F-4D97-AF65-F5344CB8AC3E}">
        <p14:creationId xmlns:p14="http://schemas.microsoft.com/office/powerpoint/2010/main" val="685486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-3">
            <a:extLst>
              <a:ext uri="{FF2B5EF4-FFF2-40B4-BE49-F238E27FC236}">
                <a16:creationId xmlns:a16="http://schemas.microsoft.com/office/drawing/2014/main" id="{7A281CE6-830D-4852-91D0-81F0D574EC77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30480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ПЕРВЫЙ ЗАПУСК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F3A021D2-F99C-440B-92AC-D304D24F87AD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1125200" cy="59055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Проект задаёт структуру данных и отчётов</a:t>
            </a:r>
          </a:p>
        </p:txBody>
      </p:sp>
      <p:sp>
        <p:nvSpPr>
          <p:cNvPr id="3" name="rule-3">
            <a:extLst>
              <a:ext uri="{FF2B5EF4-FFF2-40B4-BE49-F238E27FC236}">
                <a16:creationId xmlns:a16="http://schemas.microsoft.com/office/drawing/2014/main" id="{7F8B4ECC-6AA0-4612-A6FA-8D1159836011}"/>
              </a:ext>
            </a:extLst>
          </p:cNvPr>
          <p:cNvSpPr>
            <a:spLocks noGrp="1"/>
          </p:cNvSpPr>
          <p:nvPr/>
        </p:nvSpPr>
        <p:spPr>
          <a:xfrm>
            <a:off x="523875" y="1314450"/>
            <a:ext cx="228600" cy="228600"/>
          </a:xfrm>
          <a:prstGeom prst="rect">
            <a:avLst/>
          </a:prstGeom>
          <a:solidFill>
            <a:srgbClr val="D8DDE6"/>
          </a:solidFill>
          <a:ln w="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-number-3">
            <a:extLst>
              <a:ext uri="{FF2B5EF4-FFF2-40B4-BE49-F238E27FC236}">
                <a16:creationId xmlns:a16="http://schemas.microsoft.com/office/drawing/2014/main" id="{29D7A4E2-9D54-4ADB-A4F9-4A79817197D3}"/>
              </a:ext>
            </a:extLst>
          </p:cNvPr>
          <p:cNvSpPr>
            <a:spLocks noGrp="1"/>
          </p:cNvSpPr>
          <p:nvPr/>
        </p:nvSpPr>
        <p:spPr>
          <a:xfrm>
            <a:off x="523875" y="64293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link-РАЗДЕЛЫ">
            <a:hlinkClick r:id="rId3" action="ppaction://hlinksldjump"/>
            <a:extLst>
              <a:ext uri="{FF2B5EF4-FFF2-40B4-BE49-F238E27FC236}">
                <a16:creationId xmlns:a16="http://schemas.microsoft.com/office/drawing/2014/main" id="{327CA791-E51F-45F1-90B5-A6839FCC1820}"/>
              </a:ext>
            </a:extLst>
          </p:cNvPr>
          <p:cNvSpPr>
            <a:spLocks noGrp="1"/>
          </p:cNvSpPr>
          <p:nvPr/>
        </p:nvSpPr>
        <p:spPr>
          <a:xfrm>
            <a:off x="8648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РАЗДЕЛЫ</a:t>
            </a:r>
          </a:p>
        </p:txBody>
      </p:sp>
      <p:sp>
        <p:nvSpPr>
          <p:cNvPr id="6" name="link-←">
            <a:hlinkClick r:id="rId3" action="ppaction://hlinksldjump"/>
            <a:extLst>
              <a:ext uri="{FF2B5EF4-FFF2-40B4-BE49-F238E27FC236}">
                <a16:creationId xmlns:a16="http://schemas.microsoft.com/office/drawing/2014/main" id="{BD2E115B-B65F-4700-A541-A52CD3A2B13D}"/>
              </a:ext>
            </a:extLst>
          </p:cNvPr>
          <p:cNvSpPr>
            <a:spLocks noGrp="1"/>
          </p:cNvSpPr>
          <p:nvPr/>
        </p:nvSpPr>
        <p:spPr>
          <a:xfrm>
            <a:off x="9867900" y="630555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7" name="link-→">
            <a:hlinkClick r:id="rId4" action="ppaction://hlinksldjump"/>
            <a:extLst>
              <a:ext uri="{FF2B5EF4-FFF2-40B4-BE49-F238E27FC236}">
                <a16:creationId xmlns:a16="http://schemas.microsoft.com/office/drawing/2014/main" id="{909A4AF5-3D69-436C-BC64-BC107C456617}"/>
              </a:ext>
            </a:extLst>
          </p:cNvPr>
          <p:cNvSpPr>
            <a:spLocks noGrp="1"/>
          </p:cNvSpPr>
          <p:nvPr/>
        </p:nvSpPr>
        <p:spPr>
          <a:xfrm>
            <a:off x="10553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105443" y="1584597"/>
            <a:ext cx="1980613" cy="4279356"/>
          </a:xfrm>
          <a:prstGeom prst="roundRect">
            <a:avLst/>
          </a:prstGeom>
        </p:spPr>
      </p:pic>
      <p:sp>
        <p:nvSpPr>
          <p:cNvPr id="9" name="callout-number-1-Назовите проект">
            <a:extLst>
              <a:ext uri="{FF2B5EF4-FFF2-40B4-BE49-F238E27FC236}">
                <a16:creationId xmlns:a16="http://schemas.microsoft.com/office/drawing/2014/main" id="{761B67A0-5D6A-4AA1-9BF8-4BDDDA47F694}"/>
              </a:ext>
            </a:extLst>
          </p:cNvPr>
          <p:cNvSpPr>
            <a:spLocks noGrp="1"/>
          </p:cNvSpPr>
          <p:nvPr/>
        </p:nvSpPr>
        <p:spPr>
          <a:xfrm>
            <a:off x="8020050" y="17907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callout-circle-1-Назовите проект">
            <a:extLst>
              <a:ext uri="{FF2B5EF4-FFF2-40B4-BE49-F238E27FC236}">
                <a16:creationId xmlns:a16="http://schemas.microsoft.com/office/drawing/2014/main" id="{EFA1E2FA-3B8B-4D02-A7DF-B0CF28A7B25E}"/>
              </a:ext>
            </a:extLst>
          </p:cNvPr>
          <p:cNvSpPr>
            <a:spLocks noGrp="1"/>
          </p:cNvSpPr>
          <p:nvPr/>
        </p:nvSpPr>
        <p:spPr>
          <a:xfrm>
            <a:off x="8020050" y="1790700"/>
            <a:ext cx="400050" cy="400050"/>
          </a:xfrm>
          <a:prstGeom prst="ellipse">
            <a:avLst/>
          </a:prstGeom>
          <a:solidFill>
            <a:srgbClr val="246BFD"/>
          </a:solidFill>
          <a:ln w="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callout-title-Назовите проект">
            <a:extLst>
              <a:ext uri="{FF2B5EF4-FFF2-40B4-BE49-F238E27FC236}">
                <a16:creationId xmlns:a16="http://schemas.microsoft.com/office/drawing/2014/main" id="{6F5DC87C-7979-4B60-AB86-76A83A0B0773}"/>
              </a:ext>
            </a:extLst>
          </p:cNvPr>
          <p:cNvSpPr>
            <a:spLocks noGrp="1"/>
          </p:cNvSpPr>
          <p:nvPr/>
        </p:nvSpPr>
        <p:spPr>
          <a:xfrm>
            <a:off x="8553450" y="1781175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Назовите проект</a:t>
            </a:r>
          </a:p>
        </p:txBody>
      </p:sp>
      <p:sp>
        <p:nvSpPr>
          <p:cNvPr id="12" name="callout-body-Назовите проект">
            <a:extLst>
              <a:ext uri="{FF2B5EF4-FFF2-40B4-BE49-F238E27FC236}">
                <a16:creationId xmlns:a16="http://schemas.microsoft.com/office/drawing/2014/main" id="{BC785A3B-9762-45E7-8DC5-0029C95A0E65}"/>
              </a:ext>
            </a:extLst>
          </p:cNvPr>
          <p:cNvSpPr>
            <a:spLocks noGrp="1"/>
          </p:cNvSpPr>
          <p:nvPr/>
        </p:nvSpPr>
        <p:spPr>
          <a:xfrm>
            <a:off x="8553450" y="2085975"/>
            <a:ext cx="27813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Используйте понятное имя участка или периода.</a:t>
            </a:r>
          </a:p>
        </p:txBody>
      </p:sp>
      <p:sp>
        <p:nvSpPr>
          <p:cNvPr id="13" name="callout-number-2-Выберите тип">
            <a:extLst>
              <a:ext uri="{FF2B5EF4-FFF2-40B4-BE49-F238E27FC236}">
                <a16:creationId xmlns:a16="http://schemas.microsoft.com/office/drawing/2014/main" id="{63D9D329-674F-4180-B2B5-249DE90569C5}"/>
              </a:ext>
            </a:extLst>
          </p:cNvPr>
          <p:cNvSpPr>
            <a:spLocks noGrp="1"/>
          </p:cNvSpPr>
          <p:nvPr/>
        </p:nvSpPr>
        <p:spPr>
          <a:xfrm>
            <a:off x="8020050" y="29527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callout-circle-2-Выберите тип">
            <a:extLst>
              <a:ext uri="{FF2B5EF4-FFF2-40B4-BE49-F238E27FC236}">
                <a16:creationId xmlns:a16="http://schemas.microsoft.com/office/drawing/2014/main" id="{473DA95E-F010-46A1-BF22-EE1C77187230}"/>
              </a:ext>
            </a:extLst>
          </p:cNvPr>
          <p:cNvSpPr>
            <a:spLocks noGrp="1"/>
          </p:cNvSpPr>
          <p:nvPr/>
        </p:nvSpPr>
        <p:spPr>
          <a:xfrm>
            <a:off x="8020050" y="2952750"/>
            <a:ext cx="400050" cy="400050"/>
          </a:xfrm>
          <a:prstGeom prst="ellipse">
            <a:avLst/>
          </a:prstGeom>
          <a:solidFill>
            <a:srgbClr val="246BFD"/>
          </a:solidFill>
          <a:ln w="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callout-title-Выберите тип">
            <a:extLst>
              <a:ext uri="{FF2B5EF4-FFF2-40B4-BE49-F238E27FC236}">
                <a16:creationId xmlns:a16="http://schemas.microsoft.com/office/drawing/2014/main" id="{270E7803-6098-43E8-884D-58DA028AAC0C}"/>
              </a:ext>
            </a:extLst>
          </p:cNvPr>
          <p:cNvSpPr>
            <a:spLocks noGrp="1"/>
          </p:cNvSpPr>
          <p:nvPr/>
        </p:nvSpPr>
        <p:spPr>
          <a:xfrm>
            <a:off x="8553450" y="2943225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Выберите тип</a:t>
            </a:r>
          </a:p>
        </p:txBody>
      </p:sp>
      <p:sp>
        <p:nvSpPr>
          <p:cNvPr id="16" name="callout-body-Выберите тип">
            <a:extLst>
              <a:ext uri="{FF2B5EF4-FFF2-40B4-BE49-F238E27FC236}">
                <a16:creationId xmlns:a16="http://schemas.microsoft.com/office/drawing/2014/main" id="{34DA9984-28D8-4CCF-8C8F-9D88B26710CB}"/>
              </a:ext>
            </a:extLst>
          </p:cNvPr>
          <p:cNvSpPr>
            <a:spLocks noGrp="1"/>
          </p:cNvSpPr>
          <p:nvPr/>
        </p:nvSpPr>
        <p:spPr>
          <a:xfrm>
            <a:off x="8553450" y="3248025"/>
            <a:ext cx="27813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Upstream, Midstream и Downstream используют разные поля и Excel-шаблоны.</a:t>
            </a:r>
          </a:p>
        </p:txBody>
      </p:sp>
      <p:sp>
        <p:nvSpPr>
          <p:cNvPr id="17" name="callout-number-3-Перенесите данные">
            <a:extLst>
              <a:ext uri="{FF2B5EF4-FFF2-40B4-BE49-F238E27FC236}">
                <a16:creationId xmlns:a16="http://schemas.microsoft.com/office/drawing/2014/main" id="{9EA2FA4E-7094-43D6-B021-C02A4E4D4168}"/>
              </a:ext>
            </a:extLst>
          </p:cNvPr>
          <p:cNvSpPr>
            <a:spLocks noGrp="1"/>
          </p:cNvSpPr>
          <p:nvPr/>
        </p:nvSpPr>
        <p:spPr>
          <a:xfrm>
            <a:off x="8020050" y="44958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callout-circle-3-Перенесите данные">
            <a:extLst>
              <a:ext uri="{FF2B5EF4-FFF2-40B4-BE49-F238E27FC236}">
                <a16:creationId xmlns:a16="http://schemas.microsoft.com/office/drawing/2014/main" id="{B6203FC6-F85B-4570-8456-CE4376CCE4D7}"/>
              </a:ext>
            </a:extLst>
          </p:cNvPr>
          <p:cNvSpPr>
            <a:spLocks noGrp="1"/>
          </p:cNvSpPr>
          <p:nvPr/>
        </p:nvSpPr>
        <p:spPr>
          <a:xfrm>
            <a:off x="8020050" y="4495800"/>
            <a:ext cx="400050" cy="400050"/>
          </a:xfrm>
          <a:prstGeom prst="ellipse">
            <a:avLst/>
          </a:prstGeom>
          <a:solidFill>
            <a:srgbClr val="11875D"/>
          </a:solidFill>
          <a:ln w="0">
            <a:solidFill>
              <a:srgbClr val="11875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callout-title-Перенесите данные">
            <a:extLst>
              <a:ext uri="{FF2B5EF4-FFF2-40B4-BE49-F238E27FC236}">
                <a16:creationId xmlns:a16="http://schemas.microsoft.com/office/drawing/2014/main" id="{E8900F07-0A79-4122-8E2F-5038B5420BED}"/>
              </a:ext>
            </a:extLst>
          </p:cNvPr>
          <p:cNvSpPr>
            <a:spLocks noGrp="1"/>
          </p:cNvSpPr>
          <p:nvPr/>
        </p:nvSpPr>
        <p:spPr>
          <a:xfrm>
            <a:off x="8553450" y="4486275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Перенесите данные</a:t>
            </a:r>
          </a:p>
        </p:txBody>
      </p:sp>
      <p:sp>
        <p:nvSpPr>
          <p:cNvPr id="20" name="callout-body-Перенесите данные">
            <a:extLst>
              <a:ext uri="{FF2B5EF4-FFF2-40B4-BE49-F238E27FC236}">
                <a16:creationId xmlns:a16="http://schemas.microsoft.com/office/drawing/2014/main" id="{48F170EC-3717-489A-9115-4DF79134C363}"/>
              </a:ext>
            </a:extLst>
          </p:cNvPr>
          <p:cNvSpPr>
            <a:spLocks noGrp="1"/>
          </p:cNvSpPr>
          <p:nvPr/>
        </p:nvSpPr>
        <p:spPr>
          <a:xfrm>
            <a:off x="8553450" y="4791075"/>
            <a:ext cx="27813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ZIP-backup и Excel-архив восстанавливают проект целиком; старый XLSX остаётся табличным импортом.</a:t>
            </a:r>
          </a:p>
        </p:txBody>
      </p:sp>
    </p:spTree>
    <p:extLst>
      <p:ext uri="{BB962C8B-B14F-4D97-AF65-F5344CB8AC3E}">
        <p14:creationId xmlns:p14="http://schemas.microsoft.com/office/powerpoint/2010/main" val="1475274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ction-4">
            <a:extLst>
              <a:ext uri="{FF2B5EF4-FFF2-40B4-BE49-F238E27FC236}">
                <a16:creationId xmlns:a16="http://schemas.microsoft.com/office/drawing/2014/main" id="{A96567C6-EFBD-4064-B161-1D48109203F4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30480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ПЕРВЫЙ ЗАПУСК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6CF98AD6-8E20-4D28-8AF5-383486E65633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1125200" cy="59055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Главная показывает состояние проекта</a:t>
            </a:r>
          </a:p>
        </p:txBody>
      </p:sp>
      <p:sp>
        <p:nvSpPr>
          <p:cNvPr id="3" name="rule-4">
            <a:extLst>
              <a:ext uri="{FF2B5EF4-FFF2-40B4-BE49-F238E27FC236}">
                <a16:creationId xmlns:a16="http://schemas.microsoft.com/office/drawing/2014/main" id="{DE0F0266-5123-499E-8FD7-B96A9FBA4111}"/>
              </a:ext>
            </a:extLst>
          </p:cNvPr>
          <p:cNvSpPr>
            <a:spLocks noGrp="1"/>
          </p:cNvSpPr>
          <p:nvPr/>
        </p:nvSpPr>
        <p:spPr>
          <a:xfrm>
            <a:off x="523875" y="1314450"/>
            <a:ext cx="228600" cy="228600"/>
          </a:xfrm>
          <a:prstGeom prst="rect">
            <a:avLst/>
          </a:prstGeom>
          <a:solidFill>
            <a:srgbClr val="D8DDE6"/>
          </a:solidFill>
          <a:ln w="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-number-4">
            <a:extLst>
              <a:ext uri="{FF2B5EF4-FFF2-40B4-BE49-F238E27FC236}">
                <a16:creationId xmlns:a16="http://schemas.microsoft.com/office/drawing/2014/main" id="{A289E47A-FE9E-4010-B7D1-36F0F658ADC3}"/>
              </a:ext>
            </a:extLst>
          </p:cNvPr>
          <p:cNvSpPr>
            <a:spLocks noGrp="1"/>
          </p:cNvSpPr>
          <p:nvPr/>
        </p:nvSpPr>
        <p:spPr>
          <a:xfrm>
            <a:off x="523875" y="64293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link-РАЗДЕЛЫ">
            <a:hlinkClick r:id="rId3" action="ppaction://hlinksldjump"/>
            <a:extLst>
              <a:ext uri="{FF2B5EF4-FFF2-40B4-BE49-F238E27FC236}">
                <a16:creationId xmlns:a16="http://schemas.microsoft.com/office/drawing/2014/main" id="{2A3C3999-AF0D-4D75-AA8A-D87B98FE4654}"/>
              </a:ext>
            </a:extLst>
          </p:cNvPr>
          <p:cNvSpPr>
            <a:spLocks noGrp="1"/>
          </p:cNvSpPr>
          <p:nvPr/>
        </p:nvSpPr>
        <p:spPr>
          <a:xfrm>
            <a:off x="8648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РАЗДЕЛЫ</a:t>
            </a:r>
          </a:p>
        </p:txBody>
      </p:sp>
      <p:sp>
        <p:nvSpPr>
          <p:cNvPr id="6" name="link-←">
            <a:hlinkClick r:id="rId4" action="ppaction://hlinksldjump"/>
            <a:extLst>
              <a:ext uri="{FF2B5EF4-FFF2-40B4-BE49-F238E27FC236}">
                <a16:creationId xmlns:a16="http://schemas.microsoft.com/office/drawing/2014/main" id="{2C3B2D53-2B3B-41F4-9079-0255D8EB8CC4}"/>
              </a:ext>
            </a:extLst>
          </p:cNvPr>
          <p:cNvSpPr>
            <a:spLocks noGrp="1"/>
          </p:cNvSpPr>
          <p:nvPr/>
        </p:nvSpPr>
        <p:spPr>
          <a:xfrm>
            <a:off x="9867900" y="630555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7" name="link-→">
            <a:hlinkClick r:id="rId5" action="ppaction://hlinksldjump"/>
            <a:extLst>
              <a:ext uri="{FF2B5EF4-FFF2-40B4-BE49-F238E27FC236}">
                <a16:creationId xmlns:a16="http://schemas.microsoft.com/office/drawing/2014/main" id="{194F6CB5-748A-4344-A4AC-14D92740328D}"/>
              </a:ext>
            </a:extLst>
          </p:cNvPr>
          <p:cNvSpPr>
            <a:spLocks noGrp="1"/>
          </p:cNvSpPr>
          <p:nvPr/>
        </p:nvSpPr>
        <p:spPr>
          <a:xfrm>
            <a:off x="10553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295943" y="1583689"/>
            <a:ext cx="1980613" cy="4281172"/>
          </a:xfrm>
          <a:prstGeom prst="roundRect">
            <a:avLst/>
          </a:prstGeom>
        </p:spPr>
      </p:pic>
      <p:sp>
        <p:nvSpPr>
          <p:cNvPr id="9" name="home-top-label">
            <a:extLst>
              <a:ext uri="{FF2B5EF4-FFF2-40B4-BE49-F238E27FC236}">
                <a16:creationId xmlns:a16="http://schemas.microsoft.com/office/drawing/2014/main" id="{F0600D1C-8049-4E8F-8853-836C561AFF8E}"/>
              </a:ext>
            </a:extLst>
          </p:cNvPr>
          <p:cNvSpPr>
            <a:spLocks noGrp="1"/>
          </p:cNvSpPr>
          <p:nvPr/>
        </p:nvSpPr>
        <p:spPr>
          <a:xfrm>
            <a:off x="8420100" y="173355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Сверху</a:t>
            </a:r>
          </a:p>
        </p:txBody>
      </p:sp>
      <p:sp>
        <p:nvSpPr>
          <p:cNvPr id="10" name="home-top-body">
            <a:extLst>
              <a:ext uri="{FF2B5EF4-FFF2-40B4-BE49-F238E27FC236}">
                <a16:creationId xmlns:a16="http://schemas.microsoft.com/office/drawing/2014/main" id="{D848ADC6-5A89-4747-B983-EE7E6302BBFE}"/>
              </a:ext>
            </a:extLst>
          </p:cNvPr>
          <p:cNvSpPr>
            <a:spLocks noGrp="1"/>
          </p:cNvSpPr>
          <p:nvPr/>
        </p:nvSpPr>
        <p:spPr>
          <a:xfrm>
            <a:off x="8420100" y="2114550"/>
            <a:ext cx="295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3"/>
                </a:solidFill>
                <a:latin typeface="Arial"/>
                <a:ea typeface="Arial"/>
                <a:cs typeface="Arial"/>
              </a:rPr>
              <a:t>Проект, профиль пользователя, состояние GPS и настройки.</a:t>
            </a:r>
          </a:p>
        </p:txBody>
      </p:sp>
      <p:sp>
        <p:nvSpPr>
          <p:cNvPr id="11" name="home-center-label">
            <a:extLst>
              <a:ext uri="{FF2B5EF4-FFF2-40B4-BE49-F238E27FC236}">
                <a16:creationId xmlns:a16="http://schemas.microsoft.com/office/drawing/2014/main" id="{84E8672B-78F3-435A-B2F3-B0650724271E}"/>
              </a:ext>
            </a:extLst>
          </p:cNvPr>
          <p:cNvSpPr>
            <a:spLocks noGrp="1"/>
          </p:cNvSpPr>
          <p:nvPr/>
        </p:nvSpPr>
        <p:spPr>
          <a:xfrm>
            <a:off x="8420100" y="31242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 центре</a:t>
            </a:r>
          </a:p>
        </p:txBody>
      </p:sp>
      <p:sp>
        <p:nvSpPr>
          <p:cNvPr id="12" name="home-center-body">
            <a:extLst>
              <a:ext uri="{FF2B5EF4-FFF2-40B4-BE49-F238E27FC236}">
                <a16:creationId xmlns:a16="http://schemas.microsoft.com/office/drawing/2014/main" id="{EEB8A9A4-F9A5-48A7-89DB-47989DB4C0D6}"/>
              </a:ext>
            </a:extLst>
          </p:cNvPr>
          <p:cNvSpPr>
            <a:spLocks noGrp="1"/>
          </p:cNvSpPr>
          <p:nvPr/>
        </p:nvSpPr>
        <p:spPr>
          <a:xfrm>
            <a:off x="8420100" y="3505200"/>
            <a:ext cx="295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3"/>
                </a:solidFill>
                <a:latin typeface="Arial"/>
                <a:ea typeface="Arial"/>
                <a:cs typeface="Arial"/>
              </a:rPr>
              <a:t>Счётчики статусов и последние восемь записей.</a:t>
            </a:r>
          </a:p>
        </p:txBody>
      </p:sp>
      <p:sp>
        <p:nvSpPr>
          <p:cNvPr id="13" name="home-bottom-label">
            <a:extLst>
              <a:ext uri="{FF2B5EF4-FFF2-40B4-BE49-F238E27FC236}">
                <a16:creationId xmlns:a16="http://schemas.microsoft.com/office/drawing/2014/main" id="{A5563427-D38D-461D-B0A4-4606E063FC83}"/>
              </a:ext>
            </a:extLst>
          </p:cNvPr>
          <p:cNvSpPr>
            <a:spLocks noGrp="1"/>
          </p:cNvSpPr>
          <p:nvPr/>
        </p:nvSpPr>
        <p:spPr>
          <a:xfrm>
            <a:off x="8420100" y="44196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Снизу</a:t>
            </a:r>
          </a:p>
        </p:txBody>
      </p:sp>
      <p:sp>
        <p:nvSpPr>
          <p:cNvPr id="14" name="home-bottom-body">
            <a:extLst>
              <a:ext uri="{FF2B5EF4-FFF2-40B4-BE49-F238E27FC236}">
                <a16:creationId xmlns:a16="http://schemas.microsoft.com/office/drawing/2014/main" id="{E27F6A11-B579-4A6D-A68D-BA60F77CD045}"/>
              </a:ext>
            </a:extLst>
          </p:cNvPr>
          <p:cNvSpPr>
            <a:spLocks noGrp="1"/>
          </p:cNvSpPr>
          <p:nvPr/>
        </p:nvSpPr>
        <p:spPr>
          <a:xfrm>
            <a:off x="8420100" y="4800600"/>
            <a:ext cx="2952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3"/>
                </a:solidFill>
                <a:latin typeface="Arial"/>
                <a:ea typeface="Arial"/>
                <a:cs typeface="Arial"/>
              </a:rPr>
              <a:t>Пять основных разделов. Центральная кнопка всегда открывает новую утечку.</a:t>
            </a:r>
          </a:p>
        </p:txBody>
      </p:sp>
    </p:spTree>
    <p:extLst>
      <p:ext uri="{BB962C8B-B14F-4D97-AF65-F5344CB8AC3E}">
        <p14:creationId xmlns:p14="http://schemas.microsoft.com/office/powerpoint/2010/main" val="1361643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5">
            <a:extLst>
              <a:ext uri="{FF2B5EF4-FFF2-40B4-BE49-F238E27FC236}">
                <a16:creationId xmlns:a16="http://schemas.microsoft.com/office/drawing/2014/main" id="{AD70F3D0-EFCB-43F7-9196-3719B9AA573C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30480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РЕГИСТРАЦИЯ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EB13F1D5-B2C6-499B-A73F-176630DBC5EE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1125200" cy="59055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Форма ведёт от измерения к доказательству</a:t>
            </a:r>
          </a:p>
        </p:txBody>
      </p:sp>
      <p:sp>
        <p:nvSpPr>
          <p:cNvPr id="3" name="rule-5">
            <a:extLst>
              <a:ext uri="{FF2B5EF4-FFF2-40B4-BE49-F238E27FC236}">
                <a16:creationId xmlns:a16="http://schemas.microsoft.com/office/drawing/2014/main" id="{4A060FD3-43BC-439C-B112-CC5FADB9E1D7}"/>
              </a:ext>
            </a:extLst>
          </p:cNvPr>
          <p:cNvSpPr>
            <a:spLocks noGrp="1"/>
          </p:cNvSpPr>
          <p:nvPr/>
        </p:nvSpPr>
        <p:spPr>
          <a:xfrm>
            <a:off x="523875" y="1314450"/>
            <a:ext cx="228600" cy="228600"/>
          </a:xfrm>
          <a:prstGeom prst="rect">
            <a:avLst/>
          </a:prstGeom>
          <a:solidFill>
            <a:srgbClr val="D8DDE6"/>
          </a:solidFill>
          <a:ln w="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-number-5">
            <a:extLst>
              <a:ext uri="{FF2B5EF4-FFF2-40B4-BE49-F238E27FC236}">
                <a16:creationId xmlns:a16="http://schemas.microsoft.com/office/drawing/2014/main" id="{9FC08F31-E9DF-4510-B922-44DDD27A7B23}"/>
              </a:ext>
            </a:extLst>
          </p:cNvPr>
          <p:cNvSpPr>
            <a:spLocks noGrp="1"/>
          </p:cNvSpPr>
          <p:nvPr/>
        </p:nvSpPr>
        <p:spPr>
          <a:xfrm>
            <a:off x="523875" y="64293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link-РАЗДЕЛЫ">
            <a:hlinkClick r:id="rId3" action="ppaction://hlinksldjump"/>
            <a:extLst>
              <a:ext uri="{FF2B5EF4-FFF2-40B4-BE49-F238E27FC236}">
                <a16:creationId xmlns:a16="http://schemas.microsoft.com/office/drawing/2014/main" id="{F0CCD900-C1D5-4F8D-A3E1-C56D201C85FB}"/>
              </a:ext>
            </a:extLst>
          </p:cNvPr>
          <p:cNvSpPr>
            <a:spLocks noGrp="1"/>
          </p:cNvSpPr>
          <p:nvPr/>
        </p:nvSpPr>
        <p:spPr>
          <a:xfrm>
            <a:off x="8648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РАЗДЕЛЫ</a:t>
            </a:r>
          </a:p>
        </p:txBody>
      </p:sp>
      <p:sp>
        <p:nvSpPr>
          <p:cNvPr id="6" name="link-←">
            <a:hlinkClick r:id="rId4" action="ppaction://hlinksldjump"/>
            <a:extLst>
              <a:ext uri="{FF2B5EF4-FFF2-40B4-BE49-F238E27FC236}">
                <a16:creationId xmlns:a16="http://schemas.microsoft.com/office/drawing/2014/main" id="{CB09EA97-F765-4AEE-9149-60466FA86EA0}"/>
              </a:ext>
            </a:extLst>
          </p:cNvPr>
          <p:cNvSpPr>
            <a:spLocks noGrp="1"/>
          </p:cNvSpPr>
          <p:nvPr/>
        </p:nvSpPr>
        <p:spPr>
          <a:xfrm>
            <a:off x="9867900" y="630555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7" name="link-→">
            <a:hlinkClick r:id="rId5" action="ppaction://hlinksldjump"/>
            <a:extLst>
              <a:ext uri="{FF2B5EF4-FFF2-40B4-BE49-F238E27FC236}">
                <a16:creationId xmlns:a16="http://schemas.microsoft.com/office/drawing/2014/main" id="{19F6BC73-7B40-4E73-B3D6-5FF029CD554E}"/>
              </a:ext>
            </a:extLst>
          </p:cNvPr>
          <p:cNvSpPr>
            <a:spLocks noGrp="1"/>
          </p:cNvSpPr>
          <p:nvPr/>
        </p:nvSpPr>
        <p:spPr>
          <a:xfrm>
            <a:off x="10553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31" name="Рисунок 3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153068" y="1584597"/>
            <a:ext cx="1980613" cy="4279356"/>
          </a:xfrm>
          <a:prstGeom prst="roundRect">
            <a:avLst/>
          </a:prstGeom>
        </p:spPr>
      </p:pic>
      <p:sp>
        <p:nvSpPr>
          <p:cNvPr id="9" name="callout-number-1-Основное">
            <a:extLst>
              <a:ext uri="{FF2B5EF4-FFF2-40B4-BE49-F238E27FC236}">
                <a16:creationId xmlns:a16="http://schemas.microsoft.com/office/drawing/2014/main" id="{693809D8-7906-4527-9430-02D094BDE662}"/>
              </a:ext>
            </a:extLst>
          </p:cNvPr>
          <p:cNvSpPr>
            <a:spLocks noGrp="1"/>
          </p:cNvSpPr>
          <p:nvPr/>
        </p:nvSpPr>
        <p:spPr>
          <a:xfrm>
            <a:off x="8172450" y="16764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callout-circle-1-Основное">
            <a:extLst>
              <a:ext uri="{FF2B5EF4-FFF2-40B4-BE49-F238E27FC236}">
                <a16:creationId xmlns:a16="http://schemas.microsoft.com/office/drawing/2014/main" id="{9745232F-6AE4-47E6-AD36-2A2F0B9986BC}"/>
              </a:ext>
            </a:extLst>
          </p:cNvPr>
          <p:cNvSpPr>
            <a:spLocks noGrp="1"/>
          </p:cNvSpPr>
          <p:nvPr/>
        </p:nvSpPr>
        <p:spPr>
          <a:xfrm>
            <a:off x="8172450" y="1676400"/>
            <a:ext cx="400050" cy="400050"/>
          </a:xfrm>
          <a:prstGeom prst="ellipse">
            <a:avLst/>
          </a:prstGeom>
          <a:solidFill>
            <a:srgbClr val="246BFD"/>
          </a:solidFill>
          <a:ln w="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callout-title-Основное">
            <a:extLst>
              <a:ext uri="{FF2B5EF4-FFF2-40B4-BE49-F238E27FC236}">
                <a16:creationId xmlns:a16="http://schemas.microsoft.com/office/drawing/2014/main" id="{908BC0AF-4554-4CE0-A451-0DA855D62E3E}"/>
              </a:ext>
            </a:extLst>
          </p:cNvPr>
          <p:cNvSpPr>
            <a:spLocks noGrp="1"/>
          </p:cNvSpPr>
          <p:nvPr/>
        </p:nvSpPr>
        <p:spPr>
          <a:xfrm>
            <a:off x="8705850" y="1666875"/>
            <a:ext cx="26098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Основное</a:t>
            </a:r>
          </a:p>
        </p:txBody>
      </p:sp>
      <p:sp>
        <p:nvSpPr>
          <p:cNvPr id="12" name="callout-body-Основное">
            <a:extLst>
              <a:ext uri="{FF2B5EF4-FFF2-40B4-BE49-F238E27FC236}">
                <a16:creationId xmlns:a16="http://schemas.microsoft.com/office/drawing/2014/main" id="{C4DFB74E-C42D-452D-8D8D-6D5F221FEE8F}"/>
              </a:ext>
            </a:extLst>
          </p:cNvPr>
          <p:cNvSpPr>
            <a:spLocks noGrp="1"/>
          </p:cNvSpPr>
          <p:nvPr/>
        </p:nvSpPr>
        <p:spPr>
          <a:xfrm>
            <a:off x="8705850" y="1971675"/>
            <a:ext cx="2609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Бирка, видео, скорость и объект.</a:t>
            </a:r>
          </a:p>
        </p:txBody>
      </p:sp>
      <p:sp>
        <p:nvSpPr>
          <p:cNvPr id="13" name="callout-number-2-Описание и МТР">
            <a:extLst>
              <a:ext uri="{FF2B5EF4-FFF2-40B4-BE49-F238E27FC236}">
                <a16:creationId xmlns:a16="http://schemas.microsoft.com/office/drawing/2014/main" id="{E2088FC8-487F-4BE0-AD15-BE6E6A0C9775}"/>
              </a:ext>
            </a:extLst>
          </p:cNvPr>
          <p:cNvSpPr>
            <a:spLocks noGrp="1"/>
          </p:cNvSpPr>
          <p:nvPr/>
        </p:nvSpPr>
        <p:spPr>
          <a:xfrm>
            <a:off x="8172450" y="2990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callout-circle-2-Описание и МТР">
            <a:extLst>
              <a:ext uri="{FF2B5EF4-FFF2-40B4-BE49-F238E27FC236}">
                <a16:creationId xmlns:a16="http://schemas.microsoft.com/office/drawing/2014/main" id="{AC835950-996C-4F12-80ED-45B2A77B107F}"/>
              </a:ext>
            </a:extLst>
          </p:cNvPr>
          <p:cNvSpPr>
            <a:spLocks noGrp="1"/>
          </p:cNvSpPr>
          <p:nvPr/>
        </p:nvSpPr>
        <p:spPr>
          <a:xfrm>
            <a:off x="8172450" y="2990850"/>
            <a:ext cx="400050" cy="400050"/>
          </a:xfrm>
          <a:prstGeom prst="ellipse">
            <a:avLst/>
          </a:prstGeom>
          <a:solidFill>
            <a:srgbClr val="246BFD"/>
          </a:solidFill>
          <a:ln w="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callout-title-Описание и МТР">
            <a:extLst>
              <a:ext uri="{FF2B5EF4-FFF2-40B4-BE49-F238E27FC236}">
                <a16:creationId xmlns:a16="http://schemas.microsoft.com/office/drawing/2014/main" id="{F4C4B851-4ACF-4DD9-83A9-3336A4C50344}"/>
              </a:ext>
            </a:extLst>
          </p:cNvPr>
          <p:cNvSpPr>
            <a:spLocks noGrp="1"/>
          </p:cNvSpPr>
          <p:nvPr/>
        </p:nvSpPr>
        <p:spPr>
          <a:xfrm>
            <a:off x="8705850" y="2981325"/>
            <a:ext cx="26098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Описание и МТР</a:t>
            </a:r>
          </a:p>
        </p:txBody>
      </p:sp>
      <p:sp>
        <p:nvSpPr>
          <p:cNvPr id="16" name="callout-body-Описание и МТР">
            <a:extLst>
              <a:ext uri="{FF2B5EF4-FFF2-40B4-BE49-F238E27FC236}">
                <a16:creationId xmlns:a16="http://schemas.microsoft.com/office/drawing/2014/main" id="{FD15F251-FAD7-4073-A55D-E8B33F5A1F6F}"/>
              </a:ext>
            </a:extLst>
          </p:cNvPr>
          <p:cNvSpPr>
            <a:spLocks noGrp="1"/>
          </p:cNvSpPr>
          <p:nvPr/>
        </p:nvSpPr>
        <p:spPr>
          <a:xfrm>
            <a:off x="8705850" y="3286125"/>
            <a:ext cx="2609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Характер утечки и план устранения.</a:t>
            </a:r>
          </a:p>
        </p:txBody>
      </p:sp>
      <p:sp>
        <p:nvSpPr>
          <p:cNvPr id="17" name="callout-number-3-Примечание и фото">
            <a:extLst>
              <a:ext uri="{FF2B5EF4-FFF2-40B4-BE49-F238E27FC236}">
                <a16:creationId xmlns:a16="http://schemas.microsoft.com/office/drawing/2014/main" id="{FDD2E225-74C2-44D6-A2EB-307069C639B7}"/>
              </a:ext>
            </a:extLst>
          </p:cNvPr>
          <p:cNvSpPr>
            <a:spLocks noGrp="1"/>
          </p:cNvSpPr>
          <p:nvPr/>
        </p:nvSpPr>
        <p:spPr>
          <a:xfrm>
            <a:off x="8172450" y="43053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callout-circle-3-Примечание и фото">
            <a:extLst>
              <a:ext uri="{FF2B5EF4-FFF2-40B4-BE49-F238E27FC236}">
                <a16:creationId xmlns:a16="http://schemas.microsoft.com/office/drawing/2014/main" id="{F12626B2-49F2-4010-B66B-EC86466BB2A3}"/>
              </a:ext>
            </a:extLst>
          </p:cNvPr>
          <p:cNvSpPr>
            <a:spLocks noGrp="1"/>
          </p:cNvSpPr>
          <p:nvPr/>
        </p:nvSpPr>
        <p:spPr>
          <a:xfrm>
            <a:off x="8172450" y="4305300"/>
            <a:ext cx="400050" cy="400050"/>
          </a:xfrm>
          <a:prstGeom prst="ellipse">
            <a:avLst/>
          </a:prstGeom>
          <a:solidFill>
            <a:srgbClr val="11875D"/>
          </a:solidFill>
          <a:ln w="0">
            <a:solidFill>
              <a:srgbClr val="11875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callout-title-Примечание и фото">
            <a:extLst>
              <a:ext uri="{FF2B5EF4-FFF2-40B4-BE49-F238E27FC236}">
                <a16:creationId xmlns:a16="http://schemas.microsoft.com/office/drawing/2014/main" id="{C98CF794-D10F-44A1-8965-96C1484DA392}"/>
              </a:ext>
            </a:extLst>
          </p:cNvPr>
          <p:cNvSpPr>
            <a:spLocks noGrp="1"/>
          </p:cNvSpPr>
          <p:nvPr/>
        </p:nvSpPr>
        <p:spPr>
          <a:xfrm>
            <a:off x="8705850" y="4295775"/>
            <a:ext cx="26098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Примечание и фото</a:t>
            </a:r>
          </a:p>
        </p:txBody>
      </p:sp>
      <p:sp>
        <p:nvSpPr>
          <p:cNvPr id="20" name="callout-body-Примечание и фото">
            <a:extLst>
              <a:ext uri="{FF2B5EF4-FFF2-40B4-BE49-F238E27FC236}">
                <a16:creationId xmlns:a16="http://schemas.microsoft.com/office/drawing/2014/main" id="{69D1BB93-79C4-4117-ABD3-70EF5D81FF15}"/>
              </a:ext>
            </a:extLst>
          </p:cNvPr>
          <p:cNvSpPr>
            <a:spLocks noGrp="1"/>
          </p:cNvSpPr>
          <p:nvPr/>
        </p:nvSpPr>
        <p:spPr>
          <a:xfrm>
            <a:off x="8705850" y="4600575"/>
            <a:ext cx="2609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Подтверждение состояния на месте.</a:t>
            </a:r>
          </a:p>
        </p:txBody>
      </p:sp>
      <p:sp>
        <p:nvSpPr>
          <p:cNvPr id="21" name="draft-note">
            <a:extLst>
              <a:ext uri="{FF2B5EF4-FFF2-40B4-BE49-F238E27FC236}">
                <a16:creationId xmlns:a16="http://schemas.microsoft.com/office/drawing/2014/main" id="{09B36E4F-FBC4-4A4F-B1B0-2F9070D9561C}"/>
              </a:ext>
            </a:extLst>
          </p:cNvPr>
          <p:cNvSpPr>
            <a:spLocks noGrp="1"/>
          </p:cNvSpPr>
          <p:nvPr/>
        </p:nvSpPr>
        <p:spPr>
          <a:xfrm>
            <a:off x="8172450" y="54673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 b="1">
                <a:solidFill>
                  <a:srgbClr val="071A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A45"/>
                </a:solidFill>
                <a:latin typeface="Arial"/>
                <a:ea typeface="Arial"/>
                <a:cs typeface="Arial"/>
              </a:rPr>
              <a:t>Черновик сохраняется автоматически — можно выйти и продолжить позже.</a:t>
            </a:r>
          </a:p>
        </p:txBody>
      </p:sp>
    </p:spTree>
    <p:extLst>
      <p:ext uri="{BB962C8B-B14F-4D97-AF65-F5344CB8AC3E}">
        <p14:creationId xmlns:p14="http://schemas.microsoft.com/office/powerpoint/2010/main" val="492741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ction-6">
            <a:extLst>
              <a:ext uri="{FF2B5EF4-FFF2-40B4-BE49-F238E27FC236}">
                <a16:creationId xmlns:a16="http://schemas.microsoft.com/office/drawing/2014/main" id="{8F51BDFE-A767-4433-88C3-7C26381E142D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30480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РЕГИСТРАЦИЯ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52B2FC8B-DE24-43F9-AB99-1899139733EE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1125200" cy="59055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Регистрация разбита на три понятных шага</a:t>
            </a:r>
          </a:p>
        </p:txBody>
      </p:sp>
      <p:sp>
        <p:nvSpPr>
          <p:cNvPr id="3" name="rule-6">
            <a:extLst>
              <a:ext uri="{FF2B5EF4-FFF2-40B4-BE49-F238E27FC236}">
                <a16:creationId xmlns:a16="http://schemas.microsoft.com/office/drawing/2014/main" id="{42448A6E-BF45-4063-92D2-9A148278279A}"/>
              </a:ext>
            </a:extLst>
          </p:cNvPr>
          <p:cNvSpPr>
            <a:spLocks noGrp="1"/>
          </p:cNvSpPr>
          <p:nvPr/>
        </p:nvSpPr>
        <p:spPr>
          <a:xfrm>
            <a:off x="523875" y="1314450"/>
            <a:ext cx="228600" cy="228600"/>
          </a:xfrm>
          <a:prstGeom prst="rect">
            <a:avLst/>
          </a:prstGeom>
          <a:solidFill>
            <a:srgbClr val="D8DDE6"/>
          </a:solidFill>
          <a:ln w="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-number-6">
            <a:extLst>
              <a:ext uri="{FF2B5EF4-FFF2-40B4-BE49-F238E27FC236}">
                <a16:creationId xmlns:a16="http://schemas.microsoft.com/office/drawing/2014/main" id="{DF70BC9E-089A-4A92-8FE6-C4A60E3F7B37}"/>
              </a:ext>
            </a:extLst>
          </p:cNvPr>
          <p:cNvSpPr>
            <a:spLocks noGrp="1"/>
          </p:cNvSpPr>
          <p:nvPr/>
        </p:nvSpPr>
        <p:spPr>
          <a:xfrm>
            <a:off x="523875" y="64293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link-РАЗДЕЛЫ">
            <a:hlinkClick r:id="rId3" action="ppaction://hlinksldjump"/>
            <a:extLst>
              <a:ext uri="{FF2B5EF4-FFF2-40B4-BE49-F238E27FC236}">
                <a16:creationId xmlns:a16="http://schemas.microsoft.com/office/drawing/2014/main" id="{9776C378-5DFC-4F04-BCED-66C9BBDF9D8D}"/>
              </a:ext>
            </a:extLst>
          </p:cNvPr>
          <p:cNvSpPr>
            <a:spLocks noGrp="1"/>
          </p:cNvSpPr>
          <p:nvPr/>
        </p:nvSpPr>
        <p:spPr>
          <a:xfrm>
            <a:off x="8648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РАЗДЕЛЫ</a:t>
            </a:r>
          </a:p>
        </p:txBody>
      </p:sp>
      <p:sp>
        <p:nvSpPr>
          <p:cNvPr id="6" name="link-←">
            <a:hlinkClick r:id="rId4" action="ppaction://hlinksldjump"/>
            <a:extLst>
              <a:ext uri="{FF2B5EF4-FFF2-40B4-BE49-F238E27FC236}">
                <a16:creationId xmlns:a16="http://schemas.microsoft.com/office/drawing/2014/main" id="{F9142249-ADCF-47A6-81F1-944A192C85F4}"/>
              </a:ext>
            </a:extLst>
          </p:cNvPr>
          <p:cNvSpPr>
            <a:spLocks noGrp="1"/>
          </p:cNvSpPr>
          <p:nvPr/>
        </p:nvSpPr>
        <p:spPr>
          <a:xfrm>
            <a:off x="9867900" y="630555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7" name="link-→">
            <a:hlinkClick r:id="rId5" action="ppaction://hlinksldjump"/>
            <a:extLst>
              <a:ext uri="{FF2B5EF4-FFF2-40B4-BE49-F238E27FC236}">
                <a16:creationId xmlns:a16="http://schemas.microsoft.com/office/drawing/2014/main" id="{575835D5-F002-4A13-8F8D-F976B76C0945}"/>
              </a:ext>
            </a:extLst>
          </p:cNvPr>
          <p:cNvSpPr>
            <a:spLocks noGrp="1"/>
          </p:cNvSpPr>
          <p:nvPr/>
        </p:nvSpPr>
        <p:spPr>
          <a:xfrm>
            <a:off x="10553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962568" y="1584597"/>
            <a:ext cx="1980613" cy="4279356"/>
          </a:xfrm>
          <a:prstGeom prst="roundRect">
            <a:avLst/>
          </a:prstGeom>
        </p:spPr>
      </p:pic>
      <p:sp>
        <p:nvSpPr>
          <p:cNvPr id="9" name="save-check-title">
            <a:extLst>
              <a:ext uri="{FF2B5EF4-FFF2-40B4-BE49-F238E27FC236}">
                <a16:creationId xmlns:a16="http://schemas.microsoft.com/office/drawing/2014/main" id="{46D748C4-A3AB-46E8-9565-CBC7E7539FE4}"/>
              </a:ext>
            </a:extLst>
          </p:cNvPr>
          <p:cNvSpPr>
            <a:spLocks noGrp="1"/>
          </p:cNvSpPr>
          <p:nvPr/>
        </p:nvSpPr>
        <p:spPr>
          <a:xfrm>
            <a:off x="7886700" y="175260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 каждом шаге приложение проверяет:</a:t>
            </a:r>
          </a:p>
        </p:txBody>
      </p:sp>
      <p:sp>
        <p:nvSpPr>
          <p:cNvPr id="10" name="save-checkmark-0">
            <a:extLst>
              <a:ext uri="{FF2B5EF4-FFF2-40B4-BE49-F238E27FC236}">
                <a16:creationId xmlns:a16="http://schemas.microsoft.com/office/drawing/2014/main" id="{773E45F4-C0CD-4545-AC44-DFE44614BFEC}"/>
              </a:ext>
            </a:extLst>
          </p:cNvPr>
          <p:cNvSpPr>
            <a:spLocks noGrp="1"/>
          </p:cNvSpPr>
          <p:nvPr/>
        </p:nvSpPr>
        <p:spPr>
          <a:xfrm>
            <a:off x="7924800" y="23812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save-check-0">
            <a:extLst>
              <a:ext uri="{FF2B5EF4-FFF2-40B4-BE49-F238E27FC236}">
                <a16:creationId xmlns:a16="http://schemas.microsoft.com/office/drawing/2014/main" id="{EFA31093-0FE3-440C-A4F6-3DAAA8443EB4}"/>
              </a:ext>
            </a:extLst>
          </p:cNvPr>
          <p:cNvSpPr>
            <a:spLocks noGrp="1"/>
          </p:cNvSpPr>
          <p:nvPr/>
        </p:nvSpPr>
        <p:spPr>
          <a:xfrm>
            <a:off x="8324850" y="2371725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обязательные поля текущего шага</a:t>
            </a:r>
          </a:p>
        </p:txBody>
      </p:sp>
      <p:sp>
        <p:nvSpPr>
          <p:cNvPr id="12" name="save-checkmark-1">
            <a:extLst>
              <a:ext uri="{FF2B5EF4-FFF2-40B4-BE49-F238E27FC236}">
                <a16:creationId xmlns:a16="http://schemas.microsoft.com/office/drawing/2014/main" id="{EEB3CC32-AA6F-4965-B235-3A0629796D7B}"/>
              </a:ext>
            </a:extLst>
          </p:cNvPr>
          <p:cNvSpPr>
            <a:spLocks noGrp="1"/>
          </p:cNvSpPr>
          <p:nvPr/>
        </p:nvSpPr>
        <p:spPr>
          <a:xfrm>
            <a:off x="7924800" y="30099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save-check-1">
            <a:extLst>
              <a:ext uri="{FF2B5EF4-FFF2-40B4-BE49-F238E27FC236}">
                <a16:creationId xmlns:a16="http://schemas.microsoft.com/office/drawing/2014/main" id="{4C6A4013-577B-4FF6-91A8-B48763109B7F}"/>
              </a:ext>
            </a:extLst>
          </p:cNvPr>
          <p:cNvSpPr>
            <a:spLocks noGrp="1"/>
          </p:cNvSpPr>
          <p:nvPr/>
        </p:nvSpPr>
        <p:spPr>
          <a:xfrm>
            <a:off x="8324850" y="3000375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параметры расчёта для проекта</a:t>
            </a:r>
          </a:p>
        </p:txBody>
      </p:sp>
      <p:sp>
        <p:nvSpPr>
          <p:cNvPr id="14" name="save-checkmark-2">
            <a:extLst>
              <a:ext uri="{FF2B5EF4-FFF2-40B4-BE49-F238E27FC236}">
                <a16:creationId xmlns:a16="http://schemas.microsoft.com/office/drawing/2014/main" id="{10B863B3-DF0B-481D-B68A-72693CB08058}"/>
              </a:ext>
            </a:extLst>
          </p:cNvPr>
          <p:cNvSpPr>
            <a:spLocks noGrp="1"/>
          </p:cNvSpPr>
          <p:nvPr/>
        </p:nvSpPr>
        <p:spPr>
          <a:xfrm>
            <a:off x="7924800" y="36385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save-check-2">
            <a:extLst>
              <a:ext uri="{FF2B5EF4-FFF2-40B4-BE49-F238E27FC236}">
                <a16:creationId xmlns:a16="http://schemas.microsoft.com/office/drawing/2014/main" id="{EA19D16C-D038-46E6-8A9F-716B53B012C8}"/>
              </a:ext>
            </a:extLst>
          </p:cNvPr>
          <p:cNvSpPr>
            <a:spLocks noGrp="1"/>
          </p:cNvSpPr>
          <p:nvPr/>
        </p:nvSpPr>
        <p:spPr>
          <a:xfrm>
            <a:off x="8324850" y="3629025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описание, МТР и техрешение</a:t>
            </a:r>
          </a:p>
        </p:txBody>
      </p:sp>
      <p:sp>
        <p:nvSpPr>
          <p:cNvPr id="16" name="save-checkmark-3">
            <a:extLst>
              <a:ext uri="{FF2B5EF4-FFF2-40B4-BE49-F238E27FC236}">
                <a16:creationId xmlns:a16="http://schemas.microsoft.com/office/drawing/2014/main" id="{90E71FBB-79FB-4D0A-A8F1-4DF7D4D29E48}"/>
              </a:ext>
            </a:extLst>
          </p:cNvPr>
          <p:cNvSpPr>
            <a:spLocks noGrp="1"/>
          </p:cNvSpPr>
          <p:nvPr/>
        </p:nvSpPr>
        <p:spPr>
          <a:xfrm>
            <a:off x="7924800" y="42672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save-check-3">
            <a:extLst>
              <a:ext uri="{FF2B5EF4-FFF2-40B4-BE49-F238E27FC236}">
                <a16:creationId xmlns:a16="http://schemas.microsoft.com/office/drawing/2014/main" id="{91000D2D-FDC7-4BD7-8E5B-13B91D6CEBDA}"/>
              </a:ext>
            </a:extLst>
          </p:cNvPr>
          <p:cNvSpPr>
            <a:spLocks noGrp="1"/>
          </p:cNvSpPr>
          <p:nvPr/>
        </p:nvSpPr>
        <p:spPr>
          <a:xfrm>
            <a:off x="8324850" y="4257675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фото — если требование включено</a:t>
            </a:r>
          </a:p>
        </p:txBody>
      </p:sp>
      <p:sp>
        <p:nvSpPr>
          <p:cNvPr id="18" name="saved-note">
            <a:extLst>
              <a:ext uri="{FF2B5EF4-FFF2-40B4-BE49-F238E27FC236}">
                <a16:creationId xmlns:a16="http://schemas.microsoft.com/office/drawing/2014/main" id="{B2F9519F-0983-4E89-93D3-080334023390}"/>
              </a:ext>
            </a:extLst>
          </p:cNvPr>
          <p:cNvSpPr>
            <a:spLocks noGrp="1"/>
          </p:cNvSpPr>
          <p:nvPr/>
        </p:nvSpPr>
        <p:spPr>
          <a:xfrm>
            <a:off x="7886700" y="5048250"/>
            <a:ext cx="3390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3"/>
                </a:solidFill>
                <a:latin typeface="Arial"/>
                <a:ea typeface="Arial"/>
                <a:cs typeface="Arial"/>
              </a:rPr>
              <a:t>Кнопки «Назад» и «Далее» сохраняют контекст и ведут по форме без перегрузки экрана.</a:t>
            </a:r>
          </a:p>
        </p:txBody>
      </p:sp>
    </p:spTree>
    <p:extLst>
      <p:ext uri="{BB962C8B-B14F-4D97-AF65-F5344CB8AC3E}">
        <p14:creationId xmlns:p14="http://schemas.microsoft.com/office/powerpoint/2010/main" val="1732436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7">
            <a:extLst>
              <a:ext uri="{FF2B5EF4-FFF2-40B4-BE49-F238E27FC236}">
                <a16:creationId xmlns:a16="http://schemas.microsoft.com/office/drawing/2014/main" id="{7B984B57-28D2-4283-9141-0D690AC69BE3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30480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СТАТУСЫ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15A943F4-F804-4509-A499-E4482DF0364A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1125200" cy="59055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Одна запись проходит полный жизненный цикл</a:t>
            </a:r>
          </a:p>
        </p:txBody>
      </p:sp>
      <p:sp>
        <p:nvSpPr>
          <p:cNvPr id="3" name="rule-7">
            <a:extLst>
              <a:ext uri="{FF2B5EF4-FFF2-40B4-BE49-F238E27FC236}">
                <a16:creationId xmlns:a16="http://schemas.microsoft.com/office/drawing/2014/main" id="{C295077C-7C39-42CE-9053-FEBEDB1670C5}"/>
              </a:ext>
            </a:extLst>
          </p:cNvPr>
          <p:cNvSpPr>
            <a:spLocks noGrp="1"/>
          </p:cNvSpPr>
          <p:nvPr/>
        </p:nvSpPr>
        <p:spPr>
          <a:xfrm>
            <a:off x="523875" y="1314450"/>
            <a:ext cx="228600" cy="228600"/>
          </a:xfrm>
          <a:prstGeom prst="rect">
            <a:avLst/>
          </a:prstGeom>
          <a:solidFill>
            <a:srgbClr val="D8DDE6"/>
          </a:solidFill>
          <a:ln w="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-number-7">
            <a:extLst>
              <a:ext uri="{FF2B5EF4-FFF2-40B4-BE49-F238E27FC236}">
                <a16:creationId xmlns:a16="http://schemas.microsoft.com/office/drawing/2014/main" id="{BB4DA414-BC8D-4229-8847-408FCB1D5CB4}"/>
              </a:ext>
            </a:extLst>
          </p:cNvPr>
          <p:cNvSpPr>
            <a:spLocks noGrp="1"/>
          </p:cNvSpPr>
          <p:nvPr/>
        </p:nvSpPr>
        <p:spPr>
          <a:xfrm>
            <a:off x="523875" y="64293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link-РАЗДЕЛЫ">
            <a:hlinkClick r:id="rId3" action="ppaction://hlinksldjump"/>
            <a:extLst>
              <a:ext uri="{FF2B5EF4-FFF2-40B4-BE49-F238E27FC236}">
                <a16:creationId xmlns:a16="http://schemas.microsoft.com/office/drawing/2014/main" id="{94215579-0930-4A98-8234-B4CC74818A33}"/>
              </a:ext>
            </a:extLst>
          </p:cNvPr>
          <p:cNvSpPr>
            <a:spLocks noGrp="1"/>
          </p:cNvSpPr>
          <p:nvPr/>
        </p:nvSpPr>
        <p:spPr>
          <a:xfrm>
            <a:off x="8648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РАЗДЕЛЫ</a:t>
            </a:r>
          </a:p>
        </p:txBody>
      </p:sp>
      <p:sp>
        <p:nvSpPr>
          <p:cNvPr id="6" name="link-←">
            <a:hlinkClick r:id="rId4" action="ppaction://hlinksldjump"/>
            <a:extLst>
              <a:ext uri="{FF2B5EF4-FFF2-40B4-BE49-F238E27FC236}">
                <a16:creationId xmlns:a16="http://schemas.microsoft.com/office/drawing/2014/main" id="{7A65C779-E5E2-4DE5-9BE5-69D047764769}"/>
              </a:ext>
            </a:extLst>
          </p:cNvPr>
          <p:cNvSpPr>
            <a:spLocks noGrp="1"/>
          </p:cNvSpPr>
          <p:nvPr/>
        </p:nvSpPr>
        <p:spPr>
          <a:xfrm>
            <a:off x="9867900" y="630555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7" name="link-→">
            <a:hlinkClick r:id="rId5" action="ppaction://hlinksldjump"/>
            <a:extLst>
              <a:ext uri="{FF2B5EF4-FFF2-40B4-BE49-F238E27FC236}">
                <a16:creationId xmlns:a16="http://schemas.microsoft.com/office/drawing/2014/main" id="{F6AEBAAF-82AF-450B-A862-2DA9B2F04F28}"/>
              </a:ext>
            </a:extLst>
          </p:cNvPr>
          <p:cNvSpPr>
            <a:spLocks noGrp="1"/>
          </p:cNvSpPr>
          <p:nvPr/>
        </p:nvSpPr>
        <p:spPr>
          <a:xfrm>
            <a:off x="10553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cxnSp>
        <p:nvCxnSpPr>
          <p:cNvPr id="61" name="lifecycle-line"/>
          <p:cNvCxnSpPr/>
          <p:nvPr/>
        </p:nvCxnSpPr>
        <p:spPr>
          <a:xfrm>
            <a:off x="1238250" y="3333750"/>
            <a:ext cx="9620250" cy="0"/>
          </a:xfrm>
          <a:prstGeom prst="straightConnector1">
            <a:avLst/>
          </a:prstGeom>
          <a:ln w="28575">
            <a:solidFill>
              <a:srgbClr val="071A45"/>
            </a:solidFill>
            <a:prstDash val="solid"/>
          </a:ln>
        </p:spPr>
      </p:cxnSp>
      <p:sp>
        <p:nvSpPr>
          <p:cNvPr id="9" name="lifecycle-dot-0">
            <a:extLst>
              <a:ext uri="{FF2B5EF4-FFF2-40B4-BE49-F238E27FC236}">
                <a16:creationId xmlns:a16="http://schemas.microsoft.com/office/drawing/2014/main" id="{226A305D-8DDA-469E-980C-B6765FAC0776}"/>
              </a:ext>
            </a:extLst>
          </p:cNvPr>
          <p:cNvSpPr>
            <a:spLocks noGrp="1"/>
          </p:cNvSpPr>
          <p:nvPr/>
        </p:nvSpPr>
        <p:spPr>
          <a:xfrm>
            <a:off x="1285875" y="3190875"/>
            <a:ext cx="285750" cy="285750"/>
          </a:xfrm>
          <a:prstGeom prst="ellipse">
            <a:avLst/>
          </a:prstGeom>
          <a:solidFill>
            <a:srgbClr val="246BFD"/>
          </a:solidFill>
          <a:ln w="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lifecycle-title-0">
            <a:extLst>
              <a:ext uri="{FF2B5EF4-FFF2-40B4-BE49-F238E27FC236}">
                <a16:creationId xmlns:a16="http://schemas.microsoft.com/office/drawing/2014/main" id="{8C0F7E96-4CD3-4795-B88D-8742D14C580D}"/>
              </a:ext>
            </a:extLst>
          </p:cNvPr>
          <p:cNvSpPr>
            <a:spLocks noGrp="1"/>
          </p:cNvSpPr>
          <p:nvPr/>
        </p:nvSpPr>
        <p:spPr>
          <a:xfrm>
            <a:off x="304800" y="2190750"/>
            <a:ext cx="2247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87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Создана</a:t>
            </a:r>
          </a:p>
        </p:txBody>
      </p:sp>
      <p:sp>
        <p:nvSpPr>
          <p:cNvPr id="11" name="lifecycle-body-0">
            <a:extLst>
              <a:ext uri="{FF2B5EF4-FFF2-40B4-BE49-F238E27FC236}">
                <a16:creationId xmlns:a16="http://schemas.microsoft.com/office/drawing/2014/main" id="{186E870B-D111-4161-BC2C-4BBD2042B640}"/>
              </a:ext>
            </a:extLst>
          </p:cNvPr>
          <p:cNvSpPr>
            <a:spLocks noGrp="1"/>
          </p:cNvSpPr>
          <p:nvPr/>
        </p:nvSpPr>
        <p:spPr>
          <a:xfrm>
            <a:off x="304800" y="3714750"/>
            <a:ext cx="2247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Первичная фиксация</a:t>
            </a:r>
          </a:p>
          <a:p>
            <a:pPr algn="ctr">
              <a:buNone/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и фото</a:t>
            </a:r>
          </a:p>
        </p:txBody>
      </p:sp>
      <p:sp>
        <p:nvSpPr>
          <p:cNvPr id="12" name="lifecycle-dot-1">
            <a:extLst>
              <a:ext uri="{FF2B5EF4-FFF2-40B4-BE49-F238E27FC236}">
                <a16:creationId xmlns:a16="http://schemas.microsoft.com/office/drawing/2014/main" id="{BD1ECF76-C0B9-4EA6-928D-D2CACBB70F47}"/>
              </a:ext>
            </a:extLst>
          </p:cNvPr>
          <p:cNvSpPr>
            <a:spLocks noGrp="1"/>
          </p:cNvSpPr>
          <p:nvPr/>
        </p:nvSpPr>
        <p:spPr>
          <a:xfrm>
            <a:off x="4333875" y="3190875"/>
            <a:ext cx="285750" cy="285750"/>
          </a:xfrm>
          <a:prstGeom prst="ellipse">
            <a:avLst/>
          </a:prstGeom>
          <a:solidFill>
            <a:srgbClr val="C96812"/>
          </a:solidFill>
          <a:ln w="0">
            <a:solidFill>
              <a:srgbClr val="C9681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lifecycle-title-1">
            <a:extLst>
              <a:ext uri="{FF2B5EF4-FFF2-40B4-BE49-F238E27FC236}">
                <a16:creationId xmlns:a16="http://schemas.microsoft.com/office/drawing/2014/main" id="{C0A266D4-DF27-4D46-8DE0-FDE2E882788E}"/>
              </a:ext>
            </a:extLst>
          </p:cNvPr>
          <p:cNvSpPr>
            <a:spLocks noGrp="1"/>
          </p:cNvSpPr>
          <p:nvPr/>
        </p:nvSpPr>
        <p:spPr>
          <a:xfrm>
            <a:off x="3352800" y="2190750"/>
            <a:ext cx="2247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875" b="1">
                <a:solidFill>
                  <a:srgbClr val="C968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6812"/>
                </a:solidFill>
                <a:latin typeface="Arial"/>
                <a:ea typeface="Arial"/>
                <a:cs typeface="Arial"/>
              </a:rPr>
              <a:t>В ремонте</a:t>
            </a:r>
          </a:p>
        </p:txBody>
      </p:sp>
      <p:sp>
        <p:nvSpPr>
          <p:cNvPr id="14" name="lifecycle-body-1">
            <a:extLst>
              <a:ext uri="{FF2B5EF4-FFF2-40B4-BE49-F238E27FC236}">
                <a16:creationId xmlns:a16="http://schemas.microsoft.com/office/drawing/2014/main" id="{947E3ED0-3C71-423F-8A0B-8B3D0EFE47C4}"/>
              </a:ext>
            </a:extLst>
          </p:cNvPr>
          <p:cNvSpPr>
            <a:spLocks noGrp="1"/>
          </p:cNvSpPr>
          <p:nvPr/>
        </p:nvSpPr>
        <p:spPr>
          <a:xfrm>
            <a:off x="3352800" y="3714750"/>
            <a:ext cx="2247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Назначено действие</a:t>
            </a:r>
          </a:p>
          <a:p>
            <a:pPr algn="ctr">
              <a:buNone/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и МТР</a:t>
            </a:r>
          </a:p>
        </p:txBody>
      </p:sp>
      <p:sp>
        <p:nvSpPr>
          <p:cNvPr id="15" name="lifecycle-dot-2">
            <a:extLst>
              <a:ext uri="{FF2B5EF4-FFF2-40B4-BE49-F238E27FC236}">
                <a16:creationId xmlns:a16="http://schemas.microsoft.com/office/drawing/2014/main" id="{398F09A2-CF8A-4CB1-A2FD-4F0B405F63D8}"/>
              </a:ext>
            </a:extLst>
          </p:cNvPr>
          <p:cNvSpPr>
            <a:spLocks noGrp="1"/>
          </p:cNvSpPr>
          <p:nvPr/>
        </p:nvSpPr>
        <p:spPr>
          <a:xfrm>
            <a:off x="7381875" y="3190875"/>
            <a:ext cx="285750" cy="285750"/>
          </a:xfrm>
          <a:prstGeom prst="ellipse">
            <a:avLst/>
          </a:prstGeom>
          <a:solidFill>
            <a:srgbClr val="11875D"/>
          </a:solidFill>
          <a:ln w="0">
            <a:solidFill>
              <a:srgbClr val="11875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lifecycle-title-2">
            <a:extLst>
              <a:ext uri="{FF2B5EF4-FFF2-40B4-BE49-F238E27FC236}">
                <a16:creationId xmlns:a16="http://schemas.microsoft.com/office/drawing/2014/main" id="{E9614EFC-CF56-45E9-B4AB-FC3356281B83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2247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875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Устранена</a:t>
            </a:r>
          </a:p>
        </p:txBody>
      </p:sp>
      <p:sp>
        <p:nvSpPr>
          <p:cNvPr id="17" name="lifecycle-body-2">
            <a:extLst>
              <a:ext uri="{FF2B5EF4-FFF2-40B4-BE49-F238E27FC236}">
                <a16:creationId xmlns:a16="http://schemas.microsoft.com/office/drawing/2014/main" id="{1CDC3E4B-9916-45D9-B6A8-F7EEF8BCBB66}"/>
              </a:ext>
            </a:extLst>
          </p:cNvPr>
          <p:cNvSpPr>
            <a:spLocks noGrp="1"/>
          </p:cNvSpPr>
          <p:nvPr/>
        </p:nvSpPr>
        <p:spPr>
          <a:xfrm>
            <a:off x="6400800" y="3714750"/>
            <a:ext cx="2247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Итоговое фото</a:t>
            </a:r>
          </a:p>
          <a:p>
            <a:pPr algn="ctr">
              <a:buNone/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и дата</a:t>
            </a:r>
          </a:p>
        </p:txBody>
      </p:sp>
      <p:sp>
        <p:nvSpPr>
          <p:cNvPr id="18" name="lifecycle-dot-3">
            <a:extLst>
              <a:ext uri="{FF2B5EF4-FFF2-40B4-BE49-F238E27FC236}">
                <a16:creationId xmlns:a16="http://schemas.microsoft.com/office/drawing/2014/main" id="{43E4F630-FCD4-439B-A9A7-9630D1C02DF6}"/>
              </a:ext>
            </a:extLst>
          </p:cNvPr>
          <p:cNvSpPr>
            <a:spLocks noGrp="1"/>
          </p:cNvSpPr>
          <p:nvPr/>
        </p:nvSpPr>
        <p:spPr>
          <a:xfrm>
            <a:off x="10429875" y="3190875"/>
            <a:ext cx="285750" cy="285750"/>
          </a:xfrm>
          <a:prstGeom prst="ellipse">
            <a:avLst/>
          </a:prstGeom>
          <a:solidFill>
            <a:srgbClr val="071A45"/>
          </a:solidFill>
          <a:ln w="0">
            <a:solidFill>
              <a:srgbClr val="071A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lifecycle-title-3">
            <a:extLst>
              <a:ext uri="{FF2B5EF4-FFF2-40B4-BE49-F238E27FC236}">
                <a16:creationId xmlns:a16="http://schemas.microsoft.com/office/drawing/2014/main" id="{11EE8282-214C-4EBD-986B-9F7B8D2B0700}"/>
              </a:ext>
            </a:extLst>
          </p:cNvPr>
          <p:cNvSpPr>
            <a:spLocks noGrp="1"/>
          </p:cNvSpPr>
          <p:nvPr/>
        </p:nvSpPr>
        <p:spPr>
          <a:xfrm>
            <a:off x="9448800" y="2190750"/>
            <a:ext cx="2247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875" b="1">
                <a:solidFill>
                  <a:srgbClr val="071A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45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20" name="lifecycle-body-3">
            <a:extLst>
              <a:ext uri="{FF2B5EF4-FFF2-40B4-BE49-F238E27FC236}">
                <a16:creationId xmlns:a16="http://schemas.microsoft.com/office/drawing/2014/main" id="{C7713507-D8E2-476E-9523-3D31A5E8DCA5}"/>
              </a:ext>
            </a:extLst>
          </p:cNvPr>
          <p:cNvSpPr>
            <a:spLocks noGrp="1"/>
          </p:cNvSpPr>
          <p:nvPr/>
        </p:nvSpPr>
        <p:spPr>
          <a:xfrm>
            <a:off x="9448800" y="3714750"/>
            <a:ext cx="2247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История остаётся</a:t>
            </a:r>
          </a:p>
          <a:p>
            <a:pPr algn="ctr">
              <a:buNone/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в backup и Excel</a:t>
            </a:r>
          </a:p>
        </p:txBody>
      </p:sp>
      <p:sp>
        <p:nvSpPr>
          <p:cNvPr id="21" name="lifecycle-note">
            <a:extLst>
              <a:ext uri="{FF2B5EF4-FFF2-40B4-BE49-F238E27FC236}">
                <a16:creationId xmlns:a16="http://schemas.microsoft.com/office/drawing/2014/main" id="{053D6F43-4EDD-4B53-B4D8-CAB25437FFD8}"/>
              </a:ext>
            </a:extLst>
          </p:cNvPr>
          <p:cNvSpPr>
            <a:spLocks noGrp="1"/>
          </p:cNvSpPr>
          <p:nvPr/>
        </p:nvSpPr>
        <p:spPr>
          <a:xfrm>
            <a:off x="2476500" y="5095875"/>
            <a:ext cx="723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071A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A45"/>
                </a:solidFill>
                <a:latin typeface="Arial"/>
                <a:ea typeface="Arial"/>
                <a:cs typeface="Arial"/>
              </a:rPr>
              <a:t>Изменение статуса записывается в историю. Повторный мониторинг не стирает предыдущие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51280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-8">
            <a:extLst>
              <a:ext uri="{FF2B5EF4-FFF2-40B4-BE49-F238E27FC236}">
                <a16:creationId xmlns:a16="http://schemas.microsoft.com/office/drawing/2014/main" id="{3B7AC1F0-0326-4E53-809E-8F3B106771BE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30480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БАЗА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D9E4C0EB-EFC5-4BF0-8FDF-129AA8F67653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1125200" cy="59055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Поиск и фильтры быстро находят запись</a:t>
            </a:r>
          </a:p>
        </p:txBody>
      </p:sp>
      <p:sp>
        <p:nvSpPr>
          <p:cNvPr id="3" name="rule-8">
            <a:extLst>
              <a:ext uri="{FF2B5EF4-FFF2-40B4-BE49-F238E27FC236}">
                <a16:creationId xmlns:a16="http://schemas.microsoft.com/office/drawing/2014/main" id="{52DB11EA-7E3F-41B6-81D3-DAD9A01ABD16}"/>
              </a:ext>
            </a:extLst>
          </p:cNvPr>
          <p:cNvSpPr>
            <a:spLocks noGrp="1"/>
          </p:cNvSpPr>
          <p:nvPr/>
        </p:nvSpPr>
        <p:spPr>
          <a:xfrm>
            <a:off x="523875" y="1314450"/>
            <a:ext cx="228600" cy="228600"/>
          </a:xfrm>
          <a:prstGeom prst="rect">
            <a:avLst/>
          </a:prstGeom>
          <a:solidFill>
            <a:srgbClr val="D8DDE6"/>
          </a:solidFill>
          <a:ln w="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-number-8">
            <a:extLst>
              <a:ext uri="{FF2B5EF4-FFF2-40B4-BE49-F238E27FC236}">
                <a16:creationId xmlns:a16="http://schemas.microsoft.com/office/drawing/2014/main" id="{67CACE65-8A7D-452E-8BBF-B6AF535D8A9F}"/>
              </a:ext>
            </a:extLst>
          </p:cNvPr>
          <p:cNvSpPr>
            <a:spLocks noGrp="1"/>
          </p:cNvSpPr>
          <p:nvPr/>
        </p:nvSpPr>
        <p:spPr>
          <a:xfrm>
            <a:off x="523875" y="64293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link-РАЗДЕЛЫ">
            <a:hlinkClick r:id="rId3" action="ppaction://hlinksldjump"/>
            <a:extLst>
              <a:ext uri="{FF2B5EF4-FFF2-40B4-BE49-F238E27FC236}">
                <a16:creationId xmlns:a16="http://schemas.microsoft.com/office/drawing/2014/main" id="{4A6A0501-95E1-4B2B-A075-3193F579CE0F}"/>
              </a:ext>
            </a:extLst>
          </p:cNvPr>
          <p:cNvSpPr>
            <a:spLocks noGrp="1"/>
          </p:cNvSpPr>
          <p:nvPr/>
        </p:nvSpPr>
        <p:spPr>
          <a:xfrm>
            <a:off x="8648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РАЗДЕЛЫ</a:t>
            </a:r>
          </a:p>
        </p:txBody>
      </p:sp>
      <p:sp>
        <p:nvSpPr>
          <p:cNvPr id="6" name="link-←">
            <a:hlinkClick r:id="rId4" action="ppaction://hlinksldjump"/>
            <a:extLst>
              <a:ext uri="{FF2B5EF4-FFF2-40B4-BE49-F238E27FC236}">
                <a16:creationId xmlns:a16="http://schemas.microsoft.com/office/drawing/2014/main" id="{CCA392E2-2F2A-403B-AA97-0C0C9908CFCA}"/>
              </a:ext>
            </a:extLst>
          </p:cNvPr>
          <p:cNvSpPr>
            <a:spLocks noGrp="1"/>
          </p:cNvSpPr>
          <p:nvPr/>
        </p:nvSpPr>
        <p:spPr>
          <a:xfrm>
            <a:off x="9867900" y="630555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7" name="link-→">
            <a:hlinkClick r:id="rId5" action="ppaction://hlinksldjump"/>
            <a:extLst>
              <a:ext uri="{FF2B5EF4-FFF2-40B4-BE49-F238E27FC236}">
                <a16:creationId xmlns:a16="http://schemas.microsoft.com/office/drawing/2014/main" id="{43D8EC65-DC59-4F76-AEFE-0644BCDE0786}"/>
              </a:ext>
            </a:extLst>
          </p:cNvPr>
          <p:cNvSpPr>
            <a:spLocks noGrp="1"/>
          </p:cNvSpPr>
          <p:nvPr/>
        </p:nvSpPr>
        <p:spPr>
          <a:xfrm>
            <a:off x="10553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295943" y="1583689"/>
            <a:ext cx="1980613" cy="4281172"/>
          </a:xfrm>
          <a:prstGeom prst="roundRect">
            <a:avLst/>
          </a:prstGeom>
        </p:spPr>
      </p:pic>
      <p:sp>
        <p:nvSpPr>
          <p:cNvPr id="9" name="callout-number-1-Найдите">
            <a:extLst>
              <a:ext uri="{FF2B5EF4-FFF2-40B4-BE49-F238E27FC236}">
                <a16:creationId xmlns:a16="http://schemas.microsoft.com/office/drawing/2014/main" id="{2652EAB8-4E40-4E09-9B5B-B7011BE012AD}"/>
              </a:ext>
            </a:extLst>
          </p:cNvPr>
          <p:cNvSpPr>
            <a:spLocks noGrp="1"/>
          </p:cNvSpPr>
          <p:nvPr/>
        </p:nvSpPr>
        <p:spPr>
          <a:xfrm>
            <a:off x="8382000" y="17335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callout-circle-1-Найдите">
            <a:extLst>
              <a:ext uri="{FF2B5EF4-FFF2-40B4-BE49-F238E27FC236}">
                <a16:creationId xmlns:a16="http://schemas.microsoft.com/office/drawing/2014/main" id="{F6B3E843-53FE-4375-9987-F9B2950F856C}"/>
              </a:ext>
            </a:extLst>
          </p:cNvPr>
          <p:cNvSpPr>
            <a:spLocks noGrp="1"/>
          </p:cNvSpPr>
          <p:nvPr/>
        </p:nvSpPr>
        <p:spPr>
          <a:xfrm>
            <a:off x="8382000" y="1733550"/>
            <a:ext cx="400050" cy="400050"/>
          </a:xfrm>
          <a:prstGeom prst="ellipse">
            <a:avLst/>
          </a:prstGeom>
          <a:solidFill>
            <a:srgbClr val="246BFD"/>
          </a:solidFill>
          <a:ln w="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callout-title-Найдите">
            <a:extLst>
              <a:ext uri="{FF2B5EF4-FFF2-40B4-BE49-F238E27FC236}">
                <a16:creationId xmlns:a16="http://schemas.microsoft.com/office/drawing/2014/main" id="{64586C2D-6557-42D8-9825-1D16C0B40A68}"/>
              </a:ext>
            </a:extLst>
          </p:cNvPr>
          <p:cNvSpPr>
            <a:spLocks noGrp="1"/>
          </p:cNvSpPr>
          <p:nvPr/>
        </p:nvSpPr>
        <p:spPr>
          <a:xfrm>
            <a:off x="8915400" y="1724025"/>
            <a:ext cx="2381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Найдите</a:t>
            </a:r>
          </a:p>
        </p:txBody>
      </p:sp>
      <p:sp>
        <p:nvSpPr>
          <p:cNvPr id="12" name="callout-body-Найдите">
            <a:extLst>
              <a:ext uri="{FF2B5EF4-FFF2-40B4-BE49-F238E27FC236}">
                <a16:creationId xmlns:a16="http://schemas.microsoft.com/office/drawing/2014/main" id="{7A57CBDB-30A0-4203-8C65-761FE2A9EEA8}"/>
              </a:ext>
            </a:extLst>
          </p:cNvPr>
          <p:cNvSpPr>
            <a:spLocks noGrp="1"/>
          </p:cNvSpPr>
          <p:nvPr/>
        </p:nvSpPr>
        <p:spPr>
          <a:xfrm>
            <a:off x="8915400" y="2028825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По ID, объекту или описанию.</a:t>
            </a:r>
          </a:p>
        </p:txBody>
      </p:sp>
      <p:sp>
        <p:nvSpPr>
          <p:cNvPr id="13" name="callout-number-2-Отфильтруйте">
            <a:extLst>
              <a:ext uri="{FF2B5EF4-FFF2-40B4-BE49-F238E27FC236}">
                <a16:creationId xmlns:a16="http://schemas.microsoft.com/office/drawing/2014/main" id="{6DCF6D90-8F2B-4142-ADCF-76055AA67246}"/>
              </a:ext>
            </a:extLst>
          </p:cNvPr>
          <p:cNvSpPr>
            <a:spLocks noGrp="1"/>
          </p:cNvSpPr>
          <p:nvPr/>
        </p:nvSpPr>
        <p:spPr>
          <a:xfrm>
            <a:off x="8382000" y="28956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callout-circle-2-Отфильтруйте">
            <a:extLst>
              <a:ext uri="{FF2B5EF4-FFF2-40B4-BE49-F238E27FC236}">
                <a16:creationId xmlns:a16="http://schemas.microsoft.com/office/drawing/2014/main" id="{406F25E8-345E-4F5C-B3A2-8FE7F122497B}"/>
              </a:ext>
            </a:extLst>
          </p:cNvPr>
          <p:cNvSpPr>
            <a:spLocks noGrp="1"/>
          </p:cNvSpPr>
          <p:nvPr/>
        </p:nvSpPr>
        <p:spPr>
          <a:xfrm>
            <a:off x="8382000" y="2895600"/>
            <a:ext cx="400050" cy="400050"/>
          </a:xfrm>
          <a:prstGeom prst="ellipse">
            <a:avLst/>
          </a:prstGeom>
          <a:solidFill>
            <a:srgbClr val="246BFD"/>
          </a:solidFill>
          <a:ln w="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callout-title-Отфильтруйте">
            <a:extLst>
              <a:ext uri="{FF2B5EF4-FFF2-40B4-BE49-F238E27FC236}">
                <a16:creationId xmlns:a16="http://schemas.microsoft.com/office/drawing/2014/main" id="{76B631C7-0949-4457-AB69-C017B4F989EF}"/>
              </a:ext>
            </a:extLst>
          </p:cNvPr>
          <p:cNvSpPr>
            <a:spLocks noGrp="1"/>
          </p:cNvSpPr>
          <p:nvPr/>
        </p:nvSpPr>
        <p:spPr>
          <a:xfrm>
            <a:off x="8915400" y="2886075"/>
            <a:ext cx="2381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Отфильтруйте</a:t>
            </a:r>
          </a:p>
        </p:txBody>
      </p:sp>
      <p:sp>
        <p:nvSpPr>
          <p:cNvPr id="16" name="callout-body-Отфильтруйте">
            <a:extLst>
              <a:ext uri="{FF2B5EF4-FFF2-40B4-BE49-F238E27FC236}">
                <a16:creationId xmlns:a16="http://schemas.microsoft.com/office/drawing/2014/main" id="{E4C2538E-C45B-4BA1-B8AC-90825D6EB1AE}"/>
              </a:ext>
            </a:extLst>
          </p:cNvPr>
          <p:cNvSpPr>
            <a:spLocks noGrp="1"/>
          </p:cNvSpPr>
          <p:nvPr/>
        </p:nvSpPr>
        <p:spPr>
          <a:xfrm>
            <a:off x="8915400" y="3190875"/>
            <a:ext cx="2381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Статус, приоритет, GPS-близость и сортировка.</a:t>
            </a:r>
          </a:p>
        </p:txBody>
      </p:sp>
      <p:sp>
        <p:nvSpPr>
          <p:cNvPr id="17" name="callout-number-3-Экспортируйте">
            <a:extLst>
              <a:ext uri="{FF2B5EF4-FFF2-40B4-BE49-F238E27FC236}">
                <a16:creationId xmlns:a16="http://schemas.microsoft.com/office/drawing/2014/main" id="{353A090B-C024-48C5-B627-6135E79E7FF1}"/>
              </a:ext>
            </a:extLst>
          </p:cNvPr>
          <p:cNvSpPr>
            <a:spLocks noGrp="1"/>
          </p:cNvSpPr>
          <p:nvPr/>
        </p:nvSpPr>
        <p:spPr>
          <a:xfrm>
            <a:off x="8382000" y="42862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callout-circle-3-Экспортируйте">
            <a:extLst>
              <a:ext uri="{FF2B5EF4-FFF2-40B4-BE49-F238E27FC236}">
                <a16:creationId xmlns:a16="http://schemas.microsoft.com/office/drawing/2014/main" id="{4084433A-FBE5-4FB0-A769-5CE946FB92DF}"/>
              </a:ext>
            </a:extLst>
          </p:cNvPr>
          <p:cNvSpPr>
            <a:spLocks noGrp="1"/>
          </p:cNvSpPr>
          <p:nvPr/>
        </p:nvSpPr>
        <p:spPr>
          <a:xfrm>
            <a:off x="8382000" y="4286250"/>
            <a:ext cx="400050" cy="400050"/>
          </a:xfrm>
          <a:prstGeom prst="ellipse">
            <a:avLst/>
          </a:prstGeom>
          <a:solidFill>
            <a:srgbClr val="11875D"/>
          </a:solidFill>
          <a:ln w="0">
            <a:solidFill>
              <a:srgbClr val="11875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callout-title-Экспортируйте">
            <a:extLst>
              <a:ext uri="{FF2B5EF4-FFF2-40B4-BE49-F238E27FC236}">
                <a16:creationId xmlns:a16="http://schemas.microsoft.com/office/drawing/2014/main" id="{05C21070-12EB-4834-89F2-8925D702D712}"/>
              </a:ext>
            </a:extLst>
          </p:cNvPr>
          <p:cNvSpPr>
            <a:spLocks noGrp="1"/>
          </p:cNvSpPr>
          <p:nvPr/>
        </p:nvSpPr>
        <p:spPr>
          <a:xfrm>
            <a:off x="8915400" y="4276725"/>
            <a:ext cx="2381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Экспортируйте</a:t>
            </a:r>
          </a:p>
        </p:txBody>
      </p:sp>
      <p:sp>
        <p:nvSpPr>
          <p:cNvPr id="20" name="callout-body-Экспортируйте">
            <a:extLst>
              <a:ext uri="{FF2B5EF4-FFF2-40B4-BE49-F238E27FC236}">
                <a16:creationId xmlns:a16="http://schemas.microsoft.com/office/drawing/2014/main" id="{7CFC065D-95EC-4A35-AD0F-97C14C2B4690}"/>
              </a:ext>
            </a:extLst>
          </p:cNvPr>
          <p:cNvSpPr>
            <a:spLocks noGrp="1"/>
          </p:cNvSpPr>
          <p:nvPr/>
        </p:nvSpPr>
        <p:spPr>
          <a:xfrm>
            <a:off x="8915400" y="4581525"/>
            <a:ext cx="238125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Видимые листы XLSX учитывают настройку полей, а лист Project Backup сохраняет полный снимок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790655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9">
            <a:extLst>
              <a:ext uri="{FF2B5EF4-FFF2-40B4-BE49-F238E27FC236}">
                <a16:creationId xmlns:a16="http://schemas.microsoft.com/office/drawing/2014/main" id="{0BC8FC4A-0ACE-4834-9F68-6194C04A0093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30480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БАЗА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5C50681F-1D54-4F7B-ABDF-9BE340AC1D81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1125200" cy="590550"/>
          </a:xfrm>
          <a:prstGeom prst="rect">
            <a:avLst/>
          </a:prstGeom>
        </p:spPr>
        <p:txBody>
          <a:bodyPr lIns="0" tIns="0" rIns="0" bIns="0">
            <a:normAutofit fontScale="92816"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Выборка помогает проверять и пересчитывать записи</a:t>
            </a:r>
          </a:p>
        </p:txBody>
      </p:sp>
      <p:sp>
        <p:nvSpPr>
          <p:cNvPr id="3" name="rule-9">
            <a:extLst>
              <a:ext uri="{FF2B5EF4-FFF2-40B4-BE49-F238E27FC236}">
                <a16:creationId xmlns:a16="http://schemas.microsoft.com/office/drawing/2014/main" id="{9197E3E9-0D7B-48AE-A78D-F344C51B18C0}"/>
              </a:ext>
            </a:extLst>
          </p:cNvPr>
          <p:cNvSpPr>
            <a:spLocks noGrp="1"/>
          </p:cNvSpPr>
          <p:nvPr/>
        </p:nvSpPr>
        <p:spPr>
          <a:xfrm>
            <a:off x="523875" y="1314450"/>
            <a:ext cx="228600" cy="228600"/>
          </a:xfrm>
          <a:prstGeom prst="rect">
            <a:avLst/>
          </a:prstGeom>
          <a:solidFill>
            <a:srgbClr val="D8DDE6"/>
          </a:solidFill>
          <a:ln w="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-number-9">
            <a:extLst>
              <a:ext uri="{FF2B5EF4-FFF2-40B4-BE49-F238E27FC236}">
                <a16:creationId xmlns:a16="http://schemas.microsoft.com/office/drawing/2014/main" id="{8D0B96C2-FC3B-4DB0-8B53-3AFF43163230}"/>
              </a:ext>
            </a:extLst>
          </p:cNvPr>
          <p:cNvSpPr>
            <a:spLocks noGrp="1"/>
          </p:cNvSpPr>
          <p:nvPr/>
        </p:nvSpPr>
        <p:spPr>
          <a:xfrm>
            <a:off x="523875" y="64293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link-РАЗДЕЛЫ">
            <a:hlinkClick r:id="rId3" action="ppaction://hlinksldjump"/>
            <a:extLst>
              <a:ext uri="{FF2B5EF4-FFF2-40B4-BE49-F238E27FC236}">
                <a16:creationId xmlns:a16="http://schemas.microsoft.com/office/drawing/2014/main" id="{BE3F69C4-08E3-42C3-AC03-19E0BE5CB6C8}"/>
              </a:ext>
            </a:extLst>
          </p:cNvPr>
          <p:cNvSpPr>
            <a:spLocks noGrp="1"/>
          </p:cNvSpPr>
          <p:nvPr/>
        </p:nvSpPr>
        <p:spPr>
          <a:xfrm>
            <a:off x="8648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РАЗДЕЛЫ</a:t>
            </a:r>
          </a:p>
        </p:txBody>
      </p:sp>
      <p:sp>
        <p:nvSpPr>
          <p:cNvPr id="6" name="link-←">
            <a:hlinkClick r:id="rId4" action="ppaction://hlinksldjump"/>
            <a:extLst>
              <a:ext uri="{FF2B5EF4-FFF2-40B4-BE49-F238E27FC236}">
                <a16:creationId xmlns:a16="http://schemas.microsoft.com/office/drawing/2014/main" id="{A1363126-0DBB-4FF8-B163-DBDF8D38D307}"/>
              </a:ext>
            </a:extLst>
          </p:cNvPr>
          <p:cNvSpPr>
            <a:spLocks noGrp="1"/>
          </p:cNvSpPr>
          <p:nvPr/>
        </p:nvSpPr>
        <p:spPr>
          <a:xfrm>
            <a:off x="9867900" y="630555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7" name="link-→">
            <a:hlinkClick r:id="rId5" action="ppaction://hlinksldjump"/>
            <a:extLst>
              <a:ext uri="{FF2B5EF4-FFF2-40B4-BE49-F238E27FC236}">
                <a16:creationId xmlns:a16="http://schemas.microsoft.com/office/drawing/2014/main" id="{39C7DA0E-B96F-4A7C-8231-DCD84CF0F148}"/>
              </a:ext>
            </a:extLst>
          </p:cNvPr>
          <p:cNvSpPr>
            <a:spLocks noGrp="1"/>
          </p:cNvSpPr>
          <p:nvPr/>
        </p:nvSpPr>
        <p:spPr>
          <a:xfrm>
            <a:off x="10553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bulk-left">
            <a:extLst>
              <a:ext uri="{FF2B5EF4-FFF2-40B4-BE49-F238E27FC236}">
                <a16:creationId xmlns:a16="http://schemas.microsoft.com/office/drawing/2014/main" id="{D1E02663-DB5C-4D6E-9C62-FEB057B85655}"/>
              </a:ext>
            </a:extLst>
          </p:cNvPr>
          <p:cNvSpPr>
            <a:spLocks noGrp="1"/>
          </p:cNvSpPr>
          <p:nvPr/>
        </p:nvSpPr>
        <p:spPr>
          <a:xfrm>
            <a:off x="523875" y="1657350"/>
            <a:ext cx="5143500" cy="3714750"/>
          </a:xfrm>
          <a:prstGeom prst="rect">
            <a:avLst/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bulk-title">
            <a:extLst>
              <a:ext uri="{FF2B5EF4-FFF2-40B4-BE49-F238E27FC236}">
                <a16:creationId xmlns:a16="http://schemas.microsoft.com/office/drawing/2014/main" id="{54FAC714-544D-4C79-AC1D-1E2C25D69983}"/>
              </a:ext>
            </a:extLst>
          </p:cNvPr>
          <p:cNvSpPr>
            <a:spLocks noGrp="1"/>
          </p:cNvSpPr>
          <p:nvPr/>
        </p:nvSpPr>
        <p:spPr>
          <a:xfrm>
            <a:off x="781050" y="19431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Работа с выборкой</a:t>
            </a:r>
          </a:p>
        </p:txBody>
      </p:sp>
      <p:sp>
        <p:nvSpPr>
          <p:cNvPr id="10" name="bulk-n-0">
            <a:extLst>
              <a:ext uri="{FF2B5EF4-FFF2-40B4-BE49-F238E27FC236}">
                <a16:creationId xmlns:a16="http://schemas.microsoft.com/office/drawing/2014/main" id="{47840EB8-5A0A-4785-B721-030D6F5DCDAA}"/>
              </a:ext>
            </a:extLst>
          </p:cNvPr>
          <p:cNvSpPr>
            <a:spLocks noGrp="1"/>
          </p:cNvSpPr>
          <p:nvPr/>
        </p:nvSpPr>
        <p:spPr>
          <a:xfrm>
            <a:off x="800100" y="2609850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bulk-t-0">
            <a:extLst>
              <a:ext uri="{FF2B5EF4-FFF2-40B4-BE49-F238E27FC236}">
                <a16:creationId xmlns:a16="http://schemas.microsoft.com/office/drawing/2014/main" id="{0AFC871F-1F78-4F35-9512-C54B10F26421}"/>
              </a:ext>
            </a:extLst>
          </p:cNvPr>
          <p:cNvSpPr>
            <a:spLocks noGrp="1"/>
          </p:cNvSpPr>
          <p:nvPr/>
        </p:nvSpPr>
        <p:spPr>
          <a:xfrm>
            <a:off x="1181100" y="25717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Нажмите «Выбрать всё» или отметьте конкретные записи.</a:t>
            </a:r>
          </a:p>
        </p:txBody>
      </p:sp>
      <p:sp>
        <p:nvSpPr>
          <p:cNvPr id="12" name="bulk-n-1">
            <a:extLst>
              <a:ext uri="{FF2B5EF4-FFF2-40B4-BE49-F238E27FC236}">
                <a16:creationId xmlns:a16="http://schemas.microsoft.com/office/drawing/2014/main" id="{EEAC0340-4229-49CA-93F0-CB011C02868F}"/>
              </a:ext>
            </a:extLst>
          </p:cNvPr>
          <p:cNvSpPr>
            <a:spLocks noGrp="1"/>
          </p:cNvSpPr>
          <p:nvPr/>
        </p:nvSpPr>
        <p:spPr>
          <a:xfrm>
            <a:off x="800100" y="3238500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bulk-t-1">
            <a:extLst>
              <a:ext uri="{FF2B5EF4-FFF2-40B4-BE49-F238E27FC236}">
                <a16:creationId xmlns:a16="http://schemas.microsoft.com/office/drawing/2014/main" id="{37AF1BEE-53A3-4F37-B1FC-70FAF57C592A}"/>
              </a:ext>
            </a:extLst>
          </p:cNvPr>
          <p:cNvSpPr>
            <a:spLocks noGrp="1"/>
          </p:cNvSpPr>
          <p:nvPr/>
        </p:nvSpPr>
        <p:spPr>
          <a:xfrm>
            <a:off x="1181100" y="320040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Для выбранных карточек доступны общие параметры расчёта — проверяйте значения перед сохранением.</a:t>
            </a:r>
          </a:p>
        </p:txBody>
      </p:sp>
      <p:sp>
        <p:nvSpPr>
          <p:cNvPr id="14" name="bulk-n-2">
            <a:extLst>
              <a:ext uri="{FF2B5EF4-FFF2-40B4-BE49-F238E27FC236}">
                <a16:creationId xmlns:a16="http://schemas.microsoft.com/office/drawing/2014/main" id="{C4369AEC-A1DC-4160-A5E9-863CDEF48CA1}"/>
              </a:ext>
            </a:extLst>
          </p:cNvPr>
          <p:cNvSpPr>
            <a:spLocks noGrp="1"/>
          </p:cNvSpPr>
          <p:nvPr/>
        </p:nvSpPr>
        <p:spPr>
          <a:xfrm>
            <a:off x="800100" y="3867150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bulk-t-2">
            <a:extLst>
              <a:ext uri="{FF2B5EF4-FFF2-40B4-BE49-F238E27FC236}">
                <a16:creationId xmlns:a16="http://schemas.microsoft.com/office/drawing/2014/main" id="{EF9C3C11-7899-452D-B3CB-7A72C2548017}"/>
              </a:ext>
            </a:extLst>
          </p:cNvPr>
          <p:cNvSpPr>
            <a:spLocks noGrp="1"/>
          </p:cNvSpPr>
          <p:nvPr/>
        </p:nvSpPr>
        <p:spPr>
          <a:xfrm>
            <a:off x="1181100" y="38290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Кнопка «Проверить» отправляет выбранные записи в сценарий мониторинга.</a:t>
            </a:r>
          </a:p>
        </p:txBody>
      </p:sp>
      <p:sp>
        <p:nvSpPr>
          <p:cNvPr id="16" name="bulk-n-3">
            <a:extLst>
              <a:ext uri="{FF2B5EF4-FFF2-40B4-BE49-F238E27FC236}">
                <a16:creationId xmlns:a16="http://schemas.microsoft.com/office/drawing/2014/main" id="{6067C396-3BB2-4522-BE42-D753EC71E4C1}"/>
              </a:ext>
            </a:extLst>
          </p:cNvPr>
          <p:cNvSpPr>
            <a:spLocks noGrp="1"/>
          </p:cNvSpPr>
          <p:nvPr/>
        </p:nvSpPr>
        <p:spPr>
          <a:xfrm>
            <a:off x="800100" y="4495800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bulk-t-3">
            <a:extLst>
              <a:ext uri="{FF2B5EF4-FFF2-40B4-BE49-F238E27FC236}">
                <a16:creationId xmlns:a16="http://schemas.microsoft.com/office/drawing/2014/main" id="{34869FD7-5F04-4259-BEAC-485DFC983F13}"/>
              </a:ext>
            </a:extLst>
          </p:cNvPr>
          <p:cNvSpPr>
            <a:spLocks noGrp="1"/>
          </p:cNvSpPr>
          <p:nvPr/>
        </p:nvSpPr>
        <p:spPr>
          <a:xfrm>
            <a:off x="1181100" y="445770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Массовая смена статуса скрыта: переводите карточки по жизненному циклу из самой записи.</a:t>
            </a:r>
          </a:p>
        </p:txBody>
      </p:sp>
      <p:sp>
        <p:nvSpPr>
          <p:cNvPr id="18" name="bulk-warning">
            <a:extLst>
              <a:ext uri="{FF2B5EF4-FFF2-40B4-BE49-F238E27FC236}">
                <a16:creationId xmlns:a16="http://schemas.microsoft.com/office/drawing/2014/main" id="{C71BACB4-CE75-497E-B461-23A4D318BB3D}"/>
              </a:ext>
            </a:extLst>
          </p:cNvPr>
          <p:cNvSpPr>
            <a:spLocks noGrp="1"/>
          </p:cNvSpPr>
          <p:nvPr/>
        </p:nvSpPr>
        <p:spPr>
          <a:xfrm>
            <a:off x="6191250" y="1657350"/>
            <a:ext cx="5457825" cy="3714750"/>
          </a:xfrm>
          <a:prstGeom prst="rect">
            <a:avLst/>
          </a:prstGeom>
          <a:solidFill>
            <a:srgbClr val="FFF8F1"/>
          </a:solidFill>
          <a:ln w="9525">
            <a:solidFill>
              <a:srgbClr val="F2C99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warning-title">
            <a:extLst>
              <a:ext uri="{FF2B5EF4-FFF2-40B4-BE49-F238E27FC236}">
                <a16:creationId xmlns:a16="http://schemas.microsoft.com/office/drawing/2014/main" id="{6CFE9118-C5EA-4272-A60C-15F8F9BE1159}"/>
              </a:ext>
            </a:extLst>
          </p:cNvPr>
          <p:cNvSpPr>
            <a:spLocks noGrp="1"/>
          </p:cNvSpPr>
          <p:nvPr/>
        </p:nvSpPr>
        <p:spPr>
          <a:xfrm>
            <a:off x="6477000" y="194310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2025" b="1">
                <a:solidFill>
                  <a:srgbClr val="C9681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96812"/>
                </a:solidFill>
                <a:latin typeface="Arial"/>
                <a:ea typeface="Arial"/>
                <a:cs typeface="Arial"/>
              </a:rPr>
              <a:t>Перед необратимым действием</a:t>
            </a:r>
          </a:p>
        </p:txBody>
      </p:sp>
      <p:sp>
        <p:nvSpPr>
          <p:cNvPr id="20" name="warning-body">
            <a:extLst>
              <a:ext uri="{FF2B5EF4-FFF2-40B4-BE49-F238E27FC236}">
                <a16:creationId xmlns:a16="http://schemas.microsoft.com/office/drawing/2014/main" id="{4487EADA-639B-453A-8629-51670167F03D}"/>
              </a:ext>
            </a:extLst>
          </p:cNvPr>
          <p:cNvSpPr>
            <a:spLocks noGrp="1"/>
          </p:cNvSpPr>
          <p:nvPr/>
        </p:nvSpPr>
        <p:spPr>
          <a:xfrm>
            <a:off x="6477000" y="2628900"/>
            <a:ext cx="4762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Сделайте ZIP-backup проекта. Он включает записи, фотографии, параметры расчёта и настройки проекта.</a:t>
            </a:r>
          </a:p>
        </p:txBody>
      </p:sp>
      <p:sp>
        <p:nvSpPr>
          <p:cNvPr id="21" name="warning-note">
            <a:extLst>
              <a:ext uri="{FF2B5EF4-FFF2-40B4-BE49-F238E27FC236}">
                <a16:creationId xmlns:a16="http://schemas.microsoft.com/office/drawing/2014/main" id="{B6EF8832-D97B-4292-BEEA-AD3649210FA5}"/>
              </a:ext>
            </a:extLst>
          </p:cNvPr>
          <p:cNvSpPr>
            <a:spLocks noGrp="1"/>
          </p:cNvSpPr>
          <p:nvPr/>
        </p:nvSpPr>
        <p:spPr>
          <a:xfrm>
            <a:off x="6477000" y="4019550"/>
            <a:ext cx="4762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Если результат не тот — восстановите архив как копию, сравните данные и только потом перезаписывайте рабочий проект.</a:t>
            </a:r>
          </a:p>
        </p:txBody>
      </p:sp>
    </p:spTree>
    <p:extLst>
      <p:ext uri="{BB962C8B-B14F-4D97-AF65-F5344CB8AC3E}">
        <p14:creationId xmlns:p14="http://schemas.microsoft.com/office/powerpoint/2010/main" val="720827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-10">
            <a:extLst>
              <a:ext uri="{FF2B5EF4-FFF2-40B4-BE49-F238E27FC236}">
                <a16:creationId xmlns:a16="http://schemas.microsoft.com/office/drawing/2014/main" id="{B2607AC7-F43F-40DA-92A6-500A2F044E08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30480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МОНИТОРИНГ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6D36C42E-A9CD-4990-B020-396E8048312D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1125200" cy="59055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Каждый обход создаёт отдельный список</a:t>
            </a:r>
          </a:p>
        </p:txBody>
      </p:sp>
      <p:sp>
        <p:nvSpPr>
          <p:cNvPr id="3" name="rule-10">
            <a:extLst>
              <a:ext uri="{FF2B5EF4-FFF2-40B4-BE49-F238E27FC236}">
                <a16:creationId xmlns:a16="http://schemas.microsoft.com/office/drawing/2014/main" id="{3B8092D8-E1A2-4750-8441-A416B47E4C09}"/>
              </a:ext>
            </a:extLst>
          </p:cNvPr>
          <p:cNvSpPr>
            <a:spLocks noGrp="1"/>
          </p:cNvSpPr>
          <p:nvPr/>
        </p:nvSpPr>
        <p:spPr>
          <a:xfrm>
            <a:off x="523875" y="1314450"/>
            <a:ext cx="228600" cy="228600"/>
          </a:xfrm>
          <a:prstGeom prst="rect">
            <a:avLst/>
          </a:prstGeom>
          <a:solidFill>
            <a:srgbClr val="D8DDE6"/>
          </a:solidFill>
          <a:ln w="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-number-10">
            <a:extLst>
              <a:ext uri="{FF2B5EF4-FFF2-40B4-BE49-F238E27FC236}">
                <a16:creationId xmlns:a16="http://schemas.microsoft.com/office/drawing/2014/main" id="{DCC2BFBF-C2ED-4E24-88B5-49D21CFFFD30}"/>
              </a:ext>
            </a:extLst>
          </p:cNvPr>
          <p:cNvSpPr>
            <a:spLocks noGrp="1"/>
          </p:cNvSpPr>
          <p:nvPr/>
        </p:nvSpPr>
        <p:spPr>
          <a:xfrm>
            <a:off x="523875" y="64293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link-РАЗДЕЛЫ">
            <a:hlinkClick r:id="rId3" action="ppaction://hlinksldjump"/>
            <a:extLst>
              <a:ext uri="{FF2B5EF4-FFF2-40B4-BE49-F238E27FC236}">
                <a16:creationId xmlns:a16="http://schemas.microsoft.com/office/drawing/2014/main" id="{60644FC1-FCB9-4F0C-8445-72239457E88E}"/>
              </a:ext>
            </a:extLst>
          </p:cNvPr>
          <p:cNvSpPr>
            <a:spLocks noGrp="1"/>
          </p:cNvSpPr>
          <p:nvPr/>
        </p:nvSpPr>
        <p:spPr>
          <a:xfrm>
            <a:off x="8648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РАЗДЕЛЫ</a:t>
            </a:r>
          </a:p>
        </p:txBody>
      </p:sp>
      <p:sp>
        <p:nvSpPr>
          <p:cNvPr id="6" name="link-←">
            <a:hlinkClick r:id="rId4" action="ppaction://hlinksldjump"/>
            <a:extLst>
              <a:ext uri="{FF2B5EF4-FFF2-40B4-BE49-F238E27FC236}">
                <a16:creationId xmlns:a16="http://schemas.microsoft.com/office/drawing/2014/main" id="{A9473421-373C-4D34-A745-D407FE4CC2B4}"/>
              </a:ext>
            </a:extLst>
          </p:cNvPr>
          <p:cNvSpPr>
            <a:spLocks noGrp="1"/>
          </p:cNvSpPr>
          <p:nvPr/>
        </p:nvSpPr>
        <p:spPr>
          <a:xfrm>
            <a:off x="9867900" y="630555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7" name="link-→">
            <a:hlinkClick r:id="rId5" action="ppaction://hlinksldjump"/>
            <a:extLst>
              <a:ext uri="{FF2B5EF4-FFF2-40B4-BE49-F238E27FC236}">
                <a16:creationId xmlns:a16="http://schemas.microsoft.com/office/drawing/2014/main" id="{26FCBD2B-BF45-4FAF-B6EB-2E6F07DA707F}"/>
              </a:ext>
            </a:extLst>
          </p:cNvPr>
          <p:cNvSpPr>
            <a:spLocks noGrp="1"/>
          </p:cNvSpPr>
          <p:nvPr/>
        </p:nvSpPr>
        <p:spPr>
          <a:xfrm>
            <a:off x="10553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295943" y="1583689"/>
            <a:ext cx="1980613" cy="4281172"/>
          </a:xfrm>
          <a:prstGeom prst="roundRect">
            <a:avLst/>
          </a:prstGeom>
        </p:spPr>
      </p:pic>
      <p:sp>
        <p:nvSpPr>
          <p:cNvPr id="9" name="round-label">
            <a:extLst>
              <a:ext uri="{FF2B5EF4-FFF2-40B4-BE49-F238E27FC236}">
                <a16:creationId xmlns:a16="http://schemas.microsoft.com/office/drawing/2014/main" id="{8262241B-DD4E-4831-B45C-E471D1E084C9}"/>
              </a:ext>
            </a:extLst>
          </p:cNvPr>
          <p:cNvSpPr>
            <a:spLocks noGrp="1"/>
          </p:cNvSpPr>
          <p:nvPr/>
        </p:nvSpPr>
        <p:spPr>
          <a:xfrm>
            <a:off x="8401050" y="18097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217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Обход №1</a:t>
            </a:r>
          </a:p>
        </p:txBody>
      </p:sp>
      <p:sp>
        <p:nvSpPr>
          <p:cNvPr id="10" name="round-body">
            <a:extLst>
              <a:ext uri="{FF2B5EF4-FFF2-40B4-BE49-F238E27FC236}">
                <a16:creationId xmlns:a16="http://schemas.microsoft.com/office/drawing/2014/main" id="{8F94ED5A-6AE0-4646-8F3E-E0D81817DEAB}"/>
              </a:ext>
            </a:extLst>
          </p:cNvPr>
          <p:cNvSpPr>
            <a:spLocks noGrp="1"/>
          </p:cNvSpPr>
          <p:nvPr/>
        </p:nvSpPr>
        <p:spPr>
          <a:xfrm>
            <a:off x="8401050" y="2381250"/>
            <a:ext cx="285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«К проверке» показывает оставшиеся теги, «Проверено» — записи с результатом текущего обхода.</a:t>
            </a:r>
          </a:p>
        </p:txBody>
      </p:sp>
      <p:sp>
        <p:nvSpPr>
          <p:cNvPr id="11" name="round-history">
            <a:extLst>
              <a:ext uri="{FF2B5EF4-FFF2-40B4-BE49-F238E27FC236}">
                <a16:creationId xmlns:a16="http://schemas.microsoft.com/office/drawing/2014/main" id="{E88BAE66-4C5E-439C-816E-CD860C2774EB}"/>
              </a:ext>
            </a:extLst>
          </p:cNvPr>
          <p:cNvSpPr>
            <a:spLocks noGrp="1"/>
          </p:cNvSpPr>
          <p:nvPr/>
        </p:nvSpPr>
        <p:spPr>
          <a:xfrm>
            <a:off x="8401050" y="3905250"/>
            <a:ext cx="285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500" b="1">
                <a:solidFill>
                  <a:srgbClr val="071A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A45"/>
                </a:solidFill>
                <a:latin typeface="Arial"/>
                <a:ea typeface="Arial"/>
                <a:cs typeface="Arial"/>
              </a:rPr>
              <a:t>Новый обход не удаляет историю предыдущих проверок.</a:t>
            </a:r>
          </a:p>
        </p:txBody>
      </p:sp>
      <p:sp>
        <p:nvSpPr>
          <p:cNvPr id="12" name="round-tip">
            <a:extLst>
              <a:ext uri="{FF2B5EF4-FFF2-40B4-BE49-F238E27FC236}">
                <a16:creationId xmlns:a16="http://schemas.microsoft.com/office/drawing/2014/main" id="{12722919-929C-478B-B4F8-A09E5285BAFA}"/>
              </a:ext>
            </a:extLst>
          </p:cNvPr>
          <p:cNvSpPr>
            <a:spLocks noGrp="1"/>
          </p:cNvSpPr>
          <p:nvPr/>
        </p:nvSpPr>
        <p:spPr>
          <a:xfrm>
            <a:off x="8401050" y="4953000"/>
            <a:ext cx="285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Совет: завершайте один обход перед началом следующего, чтобы отчётность читалась однозначно.</a:t>
            </a:r>
          </a:p>
        </p:txBody>
      </p:sp>
    </p:spTree>
    <p:extLst>
      <p:ext uri="{BB962C8B-B14F-4D97-AF65-F5344CB8AC3E}">
        <p14:creationId xmlns:p14="http://schemas.microsoft.com/office/powerpoint/2010/main" val="858420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tion-11">
            <a:extLst>
              <a:ext uri="{FF2B5EF4-FFF2-40B4-BE49-F238E27FC236}">
                <a16:creationId xmlns:a16="http://schemas.microsoft.com/office/drawing/2014/main" id="{5EA6418F-D2C8-489D-B16E-804FBDE3FF85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30480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МОНИТОРИНГ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5505708F-9BC4-4CB9-965C-B418B454E11A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1125200" cy="59055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Результат проверки сохраняет историю</a:t>
            </a:r>
          </a:p>
        </p:txBody>
      </p:sp>
      <p:sp>
        <p:nvSpPr>
          <p:cNvPr id="3" name="rule-11">
            <a:extLst>
              <a:ext uri="{FF2B5EF4-FFF2-40B4-BE49-F238E27FC236}">
                <a16:creationId xmlns:a16="http://schemas.microsoft.com/office/drawing/2014/main" id="{B5E098DF-657D-4FC8-9353-DED9305E45EA}"/>
              </a:ext>
            </a:extLst>
          </p:cNvPr>
          <p:cNvSpPr>
            <a:spLocks noGrp="1"/>
          </p:cNvSpPr>
          <p:nvPr/>
        </p:nvSpPr>
        <p:spPr>
          <a:xfrm>
            <a:off x="523875" y="1314450"/>
            <a:ext cx="228600" cy="228600"/>
          </a:xfrm>
          <a:prstGeom prst="rect">
            <a:avLst/>
          </a:prstGeom>
          <a:solidFill>
            <a:srgbClr val="D8DDE6"/>
          </a:solidFill>
          <a:ln w="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-number-11">
            <a:extLst>
              <a:ext uri="{FF2B5EF4-FFF2-40B4-BE49-F238E27FC236}">
                <a16:creationId xmlns:a16="http://schemas.microsoft.com/office/drawing/2014/main" id="{9C1E1F15-C397-4C2E-A2B2-FCCD43C54157}"/>
              </a:ext>
            </a:extLst>
          </p:cNvPr>
          <p:cNvSpPr>
            <a:spLocks noGrp="1"/>
          </p:cNvSpPr>
          <p:nvPr/>
        </p:nvSpPr>
        <p:spPr>
          <a:xfrm>
            <a:off x="523875" y="64293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link-РАЗДЕЛЫ">
            <a:hlinkClick r:id="rId3" action="ppaction://hlinksldjump"/>
            <a:extLst>
              <a:ext uri="{FF2B5EF4-FFF2-40B4-BE49-F238E27FC236}">
                <a16:creationId xmlns:a16="http://schemas.microsoft.com/office/drawing/2014/main" id="{81692462-DAA5-4492-A8B4-2DDB4E6451DC}"/>
              </a:ext>
            </a:extLst>
          </p:cNvPr>
          <p:cNvSpPr>
            <a:spLocks noGrp="1"/>
          </p:cNvSpPr>
          <p:nvPr/>
        </p:nvSpPr>
        <p:spPr>
          <a:xfrm>
            <a:off x="8648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РАЗДЕЛЫ</a:t>
            </a:r>
          </a:p>
        </p:txBody>
      </p:sp>
      <p:sp>
        <p:nvSpPr>
          <p:cNvPr id="6" name="link-←">
            <a:hlinkClick r:id="rId4" action="ppaction://hlinksldjump"/>
            <a:extLst>
              <a:ext uri="{FF2B5EF4-FFF2-40B4-BE49-F238E27FC236}">
                <a16:creationId xmlns:a16="http://schemas.microsoft.com/office/drawing/2014/main" id="{C001B35F-6C7C-42E5-B4F3-7EF4F07D1CB1}"/>
              </a:ext>
            </a:extLst>
          </p:cNvPr>
          <p:cNvSpPr>
            <a:spLocks noGrp="1"/>
          </p:cNvSpPr>
          <p:nvPr/>
        </p:nvSpPr>
        <p:spPr>
          <a:xfrm>
            <a:off x="9867900" y="630555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7" name="link-→">
            <a:hlinkClick r:id="rId5" action="ppaction://hlinksldjump"/>
            <a:extLst>
              <a:ext uri="{FF2B5EF4-FFF2-40B4-BE49-F238E27FC236}">
                <a16:creationId xmlns:a16="http://schemas.microsoft.com/office/drawing/2014/main" id="{7B90B767-5FCD-4BA1-8D22-8B2B22825738}"/>
              </a:ext>
            </a:extLst>
          </p:cNvPr>
          <p:cNvSpPr>
            <a:spLocks noGrp="1"/>
          </p:cNvSpPr>
          <p:nvPr/>
        </p:nvSpPr>
        <p:spPr>
          <a:xfrm>
            <a:off x="10553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295943" y="1583689"/>
            <a:ext cx="1980613" cy="4281172"/>
          </a:xfrm>
          <a:prstGeom prst="roundRect">
            <a:avLst/>
          </a:prstGeom>
        </p:spPr>
      </p:pic>
      <p:sp>
        <p:nvSpPr>
          <p:cNvPr id="9" name="result-title">
            <a:extLst>
              <a:ext uri="{FF2B5EF4-FFF2-40B4-BE49-F238E27FC236}">
                <a16:creationId xmlns:a16="http://schemas.microsoft.com/office/drawing/2014/main" id="{82EBB905-7BA0-45E8-ADEA-FD0A01E75B57}"/>
              </a:ext>
            </a:extLst>
          </p:cNvPr>
          <p:cNvSpPr>
            <a:spLocks noGrp="1"/>
          </p:cNvSpPr>
          <p:nvPr/>
        </p:nvSpPr>
        <p:spPr>
          <a:xfrm>
            <a:off x="8382000" y="1771650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Выберите результат</a:t>
            </a:r>
          </a:p>
        </p:txBody>
      </p:sp>
      <p:sp>
        <p:nvSpPr>
          <p:cNvPr id="10" name="result-dot-0">
            <a:extLst>
              <a:ext uri="{FF2B5EF4-FFF2-40B4-BE49-F238E27FC236}">
                <a16:creationId xmlns:a16="http://schemas.microsoft.com/office/drawing/2014/main" id="{E150107F-FBBC-406A-8973-8460042DB018}"/>
              </a:ext>
            </a:extLst>
          </p:cNvPr>
          <p:cNvSpPr>
            <a:spLocks noGrp="1"/>
          </p:cNvSpPr>
          <p:nvPr/>
        </p:nvSpPr>
        <p:spPr>
          <a:xfrm>
            <a:off x="8420100" y="2390775"/>
            <a:ext cx="171450" cy="171450"/>
          </a:xfrm>
          <a:prstGeom prst="ellipse">
            <a:avLst/>
          </a:prstGeom>
          <a:solidFill>
            <a:srgbClr val="246BFD"/>
          </a:solidFill>
          <a:ln w="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result-label-0">
            <a:extLst>
              <a:ext uri="{FF2B5EF4-FFF2-40B4-BE49-F238E27FC236}">
                <a16:creationId xmlns:a16="http://schemas.microsoft.com/office/drawing/2014/main" id="{C2AF5D3F-CE79-4CE6-93B6-23CE2D93DB5A}"/>
              </a:ext>
            </a:extLst>
          </p:cNvPr>
          <p:cNvSpPr>
            <a:spLocks noGrp="1"/>
          </p:cNvSpPr>
          <p:nvPr/>
        </p:nvSpPr>
        <p:spPr>
          <a:xfrm>
            <a:off x="8724900" y="23050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Утечка сохраняется</a:t>
            </a:r>
          </a:p>
        </p:txBody>
      </p:sp>
      <p:sp>
        <p:nvSpPr>
          <p:cNvPr id="12" name="result-dot-1">
            <a:extLst>
              <a:ext uri="{FF2B5EF4-FFF2-40B4-BE49-F238E27FC236}">
                <a16:creationId xmlns:a16="http://schemas.microsoft.com/office/drawing/2014/main" id="{602B7CFB-D7E9-4454-B0E9-9D6879D1B1C7}"/>
              </a:ext>
            </a:extLst>
          </p:cNvPr>
          <p:cNvSpPr>
            <a:spLocks noGrp="1"/>
          </p:cNvSpPr>
          <p:nvPr/>
        </p:nvSpPr>
        <p:spPr>
          <a:xfrm>
            <a:off x="8420100" y="2943225"/>
            <a:ext cx="171450" cy="171450"/>
          </a:xfrm>
          <a:prstGeom prst="ellipse">
            <a:avLst/>
          </a:prstGeom>
          <a:solidFill>
            <a:srgbClr val="C96812"/>
          </a:solidFill>
          <a:ln w="0">
            <a:solidFill>
              <a:srgbClr val="C9681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result-label-1">
            <a:extLst>
              <a:ext uri="{FF2B5EF4-FFF2-40B4-BE49-F238E27FC236}">
                <a16:creationId xmlns:a16="http://schemas.microsoft.com/office/drawing/2014/main" id="{ACEC1920-16B6-4EAA-9692-B620AA6360DB}"/>
              </a:ext>
            </a:extLst>
          </p:cNvPr>
          <p:cNvSpPr>
            <a:spLocks noGrp="1"/>
          </p:cNvSpPr>
          <p:nvPr/>
        </p:nvSpPr>
        <p:spPr>
          <a:xfrm>
            <a:off x="8724900" y="28575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C968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6812"/>
                </a:solidFill>
                <a:latin typeface="Arial"/>
                <a:ea typeface="Arial"/>
                <a:cs typeface="Arial"/>
              </a:rPr>
              <a:t>Утечка в ремонте</a:t>
            </a:r>
          </a:p>
        </p:txBody>
      </p:sp>
      <p:sp>
        <p:nvSpPr>
          <p:cNvPr id="14" name="result-dot-2">
            <a:extLst>
              <a:ext uri="{FF2B5EF4-FFF2-40B4-BE49-F238E27FC236}">
                <a16:creationId xmlns:a16="http://schemas.microsoft.com/office/drawing/2014/main" id="{88CC89EF-8530-47A2-8BDF-13C816DD6E22}"/>
              </a:ext>
            </a:extLst>
          </p:cNvPr>
          <p:cNvSpPr>
            <a:spLocks noGrp="1"/>
          </p:cNvSpPr>
          <p:nvPr/>
        </p:nvSpPr>
        <p:spPr>
          <a:xfrm>
            <a:off x="8420100" y="3495675"/>
            <a:ext cx="171450" cy="171450"/>
          </a:xfrm>
          <a:prstGeom prst="ellipse">
            <a:avLst/>
          </a:prstGeom>
          <a:solidFill>
            <a:srgbClr val="11875D"/>
          </a:solidFill>
          <a:ln w="0">
            <a:solidFill>
              <a:srgbClr val="11875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result-label-2">
            <a:extLst>
              <a:ext uri="{FF2B5EF4-FFF2-40B4-BE49-F238E27FC236}">
                <a16:creationId xmlns:a16="http://schemas.microsoft.com/office/drawing/2014/main" id="{F5317E04-2CB2-4797-A9BD-79292515259B}"/>
              </a:ext>
            </a:extLst>
          </p:cNvPr>
          <p:cNvSpPr>
            <a:spLocks noGrp="1"/>
          </p:cNvSpPr>
          <p:nvPr/>
        </p:nvSpPr>
        <p:spPr>
          <a:xfrm>
            <a:off x="8724900" y="34099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Утечка устранена</a:t>
            </a:r>
          </a:p>
        </p:txBody>
      </p:sp>
      <p:sp>
        <p:nvSpPr>
          <p:cNvPr id="16" name="result-note">
            <a:extLst>
              <a:ext uri="{FF2B5EF4-FFF2-40B4-BE49-F238E27FC236}">
                <a16:creationId xmlns:a16="http://schemas.microsoft.com/office/drawing/2014/main" id="{4EF6F778-42A2-4DCC-829C-1A05CBD644C4}"/>
              </a:ext>
            </a:extLst>
          </p:cNvPr>
          <p:cNvSpPr>
            <a:spLocks noGrp="1"/>
          </p:cNvSpPr>
          <p:nvPr/>
        </p:nvSpPr>
        <p:spPr>
          <a:xfrm>
            <a:off x="8382000" y="4267200"/>
            <a:ext cx="2952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Комментарий и МТР объясняют решение. Фото мониторинга обязательно только если это включено в настройках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201260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-12">
            <a:extLst>
              <a:ext uri="{FF2B5EF4-FFF2-40B4-BE49-F238E27FC236}">
                <a16:creationId xmlns:a16="http://schemas.microsoft.com/office/drawing/2014/main" id="{32116F45-DA86-4A7D-8CA2-ABC66B29F372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30480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КАРТА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A0CC949C-475F-4603-9775-7B6BD780F00E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1125200" cy="590550"/>
          </a:xfrm>
          <a:prstGeom prst="rect">
            <a:avLst/>
          </a:prstGeom>
        </p:spPr>
        <p:txBody>
          <a:bodyPr lIns="0" tIns="0" rIns="0" bIns="0">
            <a:normAutofit fontScale="88666"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Карта объединяет поиск, фильтры и полевую навигацию</a:t>
            </a:r>
          </a:p>
        </p:txBody>
      </p:sp>
      <p:sp>
        <p:nvSpPr>
          <p:cNvPr id="4" name="slide-number-12">
            <a:extLst>
              <a:ext uri="{FF2B5EF4-FFF2-40B4-BE49-F238E27FC236}">
                <a16:creationId xmlns:a16="http://schemas.microsoft.com/office/drawing/2014/main" id="{0E45C4AC-F07C-4934-82BC-D3C1D623E780}"/>
              </a:ext>
            </a:extLst>
          </p:cNvPr>
          <p:cNvSpPr>
            <a:spLocks noGrp="1"/>
          </p:cNvSpPr>
          <p:nvPr/>
        </p:nvSpPr>
        <p:spPr>
          <a:xfrm>
            <a:off x="523875" y="64293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link-РАЗДЕЛЫ">
            <a:hlinkClick r:id="rId3" action="ppaction://hlinksldjump"/>
            <a:extLst>
              <a:ext uri="{FF2B5EF4-FFF2-40B4-BE49-F238E27FC236}">
                <a16:creationId xmlns:a16="http://schemas.microsoft.com/office/drawing/2014/main" id="{BF9EF564-7F5E-4D76-A57F-B0A2C6BF2788}"/>
              </a:ext>
            </a:extLst>
          </p:cNvPr>
          <p:cNvSpPr>
            <a:spLocks noGrp="1"/>
          </p:cNvSpPr>
          <p:nvPr/>
        </p:nvSpPr>
        <p:spPr>
          <a:xfrm>
            <a:off x="8648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РАЗДЕЛЫ</a:t>
            </a:r>
          </a:p>
        </p:txBody>
      </p:sp>
      <p:sp>
        <p:nvSpPr>
          <p:cNvPr id="6" name="link-←">
            <a:hlinkClick r:id="rId4" action="ppaction://hlinksldjump"/>
            <a:extLst>
              <a:ext uri="{FF2B5EF4-FFF2-40B4-BE49-F238E27FC236}">
                <a16:creationId xmlns:a16="http://schemas.microsoft.com/office/drawing/2014/main" id="{C730D010-4C3C-4E9A-9A0A-DFF04D1A122C}"/>
              </a:ext>
            </a:extLst>
          </p:cNvPr>
          <p:cNvSpPr>
            <a:spLocks noGrp="1"/>
          </p:cNvSpPr>
          <p:nvPr/>
        </p:nvSpPr>
        <p:spPr>
          <a:xfrm>
            <a:off x="9867900" y="630555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7" name="link-→">
            <a:hlinkClick r:id="rId5" action="ppaction://hlinksldjump"/>
            <a:extLst>
              <a:ext uri="{FF2B5EF4-FFF2-40B4-BE49-F238E27FC236}">
                <a16:creationId xmlns:a16="http://schemas.microsoft.com/office/drawing/2014/main" id="{3F1F7BA1-D931-49AA-A283-A151B1246CEC}"/>
              </a:ext>
            </a:extLst>
          </p:cNvPr>
          <p:cNvSpPr>
            <a:spLocks noGrp="1"/>
          </p:cNvSpPr>
          <p:nvPr/>
        </p:nvSpPr>
        <p:spPr>
          <a:xfrm>
            <a:off x="10553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343568" y="1583689"/>
            <a:ext cx="1980613" cy="4281172"/>
          </a:xfrm>
          <a:prstGeom prst="roundRect">
            <a:avLst/>
          </a:prstGeom>
        </p:spPr>
      </p:pic>
      <p:sp>
        <p:nvSpPr>
          <p:cNvPr id="9" name="callout-number-1-Фильтры">
            <a:extLst>
              <a:ext uri="{FF2B5EF4-FFF2-40B4-BE49-F238E27FC236}">
                <a16:creationId xmlns:a16="http://schemas.microsoft.com/office/drawing/2014/main" id="{CFD72F00-F8B3-4C60-BF2D-A8E317E0CE16}"/>
              </a:ext>
            </a:extLst>
          </p:cNvPr>
          <p:cNvSpPr>
            <a:spLocks noGrp="1"/>
          </p:cNvSpPr>
          <p:nvPr/>
        </p:nvSpPr>
        <p:spPr>
          <a:xfrm>
            <a:off x="8458200" y="17526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callout-circle-1-Фильтры">
            <a:extLst>
              <a:ext uri="{FF2B5EF4-FFF2-40B4-BE49-F238E27FC236}">
                <a16:creationId xmlns:a16="http://schemas.microsoft.com/office/drawing/2014/main" id="{61B81391-265D-4DD5-9C38-746343943B77}"/>
              </a:ext>
            </a:extLst>
          </p:cNvPr>
          <p:cNvSpPr>
            <a:spLocks noGrp="1"/>
          </p:cNvSpPr>
          <p:nvPr/>
        </p:nvSpPr>
        <p:spPr>
          <a:xfrm>
            <a:off x="8458200" y="1752600"/>
            <a:ext cx="400050" cy="400050"/>
          </a:xfrm>
          <a:prstGeom prst="ellipse">
            <a:avLst/>
          </a:prstGeom>
          <a:solidFill>
            <a:srgbClr val="246BFD"/>
          </a:solidFill>
          <a:ln w="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callout-title-Фильтры">
            <a:extLst>
              <a:ext uri="{FF2B5EF4-FFF2-40B4-BE49-F238E27FC236}">
                <a16:creationId xmlns:a16="http://schemas.microsoft.com/office/drawing/2014/main" id="{2D7C38A8-B0DE-40B9-96BC-3C759341F7DF}"/>
              </a:ext>
            </a:extLst>
          </p:cNvPr>
          <p:cNvSpPr>
            <a:spLocks noGrp="1"/>
          </p:cNvSpPr>
          <p:nvPr/>
        </p:nvSpPr>
        <p:spPr>
          <a:xfrm>
            <a:off x="8991600" y="1743075"/>
            <a:ext cx="2305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Фильтры</a:t>
            </a:r>
          </a:p>
        </p:txBody>
      </p:sp>
      <p:sp>
        <p:nvSpPr>
          <p:cNvPr id="12" name="callout-body-Фильтры">
            <a:extLst>
              <a:ext uri="{FF2B5EF4-FFF2-40B4-BE49-F238E27FC236}">
                <a16:creationId xmlns:a16="http://schemas.microsoft.com/office/drawing/2014/main" id="{5FE23F46-50DD-41AB-BE3B-F9859CC6349B}"/>
              </a:ext>
            </a:extLst>
          </p:cNvPr>
          <p:cNvSpPr>
            <a:spLocks noGrp="1"/>
          </p:cNvSpPr>
          <p:nvPr/>
        </p:nvSpPr>
        <p:spPr>
          <a:xfrm>
            <a:off x="8991600" y="2047875"/>
            <a:ext cx="23050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Статус и приоритет меняют видимую выборку.</a:t>
            </a:r>
          </a:p>
        </p:txBody>
      </p:sp>
      <p:sp>
        <p:nvSpPr>
          <p:cNvPr id="13" name="callout-number-2-Моя геопозиция">
            <a:extLst>
              <a:ext uri="{FF2B5EF4-FFF2-40B4-BE49-F238E27FC236}">
                <a16:creationId xmlns:a16="http://schemas.microsoft.com/office/drawing/2014/main" id="{58429D2E-72B4-40F2-A078-66F8EFA5DCC1}"/>
              </a:ext>
            </a:extLst>
          </p:cNvPr>
          <p:cNvSpPr>
            <a:spLocks noGrp="1"/>
          </p:cNvSpPr>
          <p:nvPr/>
        </p:nvSpPr>
        <p:spPr>
          <a:xfrm>
            <a:off x="8458200" y="30861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callout-circle-2-Моя геопозиция">
            <a:extLst>
              <a:ext uri="{FF2B5EF4-FFF2-40B4-BE49-F238E27FC236}">
                <a16:creationId xmlns:a16="http://schemas.microsoft.com/office/drawing/2014/main" id="{8BEB3D6D-3A81-4B50-B90D-B2B14498CFC2}"/>
              </a:ext>
            </a:extLst>
          </p:cNvPr>
          <p:cNvSpPr>
            <a:spLocks noGrp="1"/>
          </p:cNvSpPr>
          <p:nvPr/>
        </p:nvSpPr>
        <p:spPr>
          <a:xfrm>
            <a:off x="8458200" y="3086100"/>
            <a:ext cx="400050" cy="400050"/>
          </a:xfrm>
          <a:prstGeom prst="ellipse">
            <a:avLst/>
          </a:prstGeom>
          <a:solidFill>
            <a:srgbClr val="246BFD"/>
          </a:solidFill>
          <a:ln w="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callout-title-Моя геопозиция">
            <a:extLst>
              <a:ext uri="{FF2B5EF4-FFF2-40B4-BE49-F238E27FC236}">
                <a16:creationId xmlns:a16="http://schemas.microsoft.com/office/drawing/2014/main" id="{F2B51E8B-AD01-4C68-857C-C536F7EF355E}"/>
              </a:ext>
            </a:extLst>
          </p:cNvPr>
          <p:cNvSpPr>
            <a:spLocks noGrp="1"/>
          </p:cNvSpPr>
          <p:nvPr/>
        </p:nvSpPr>
        <p:spPr>
          <a:xfrm>
            <a:off x="8991600" y="3076575"/>
            <a:ext cx="2305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Моя геопозиция</a:t>
            </a:r>
          </a:p>
        </p:txBody>
      </p:sp>
      <p:sp>
        <p:nvSpPr>
          <p:cNvPr id="16" name="callout-body-Моя геопозиция">
            <a:extLst>
              <a:ext uri="{FF2B5EF4-FFF2-40B4-BE49-F238E27FC236}">
                <a16:creationId xmlns:a16="http://schemas.microsoft.com/office/drawing/2014/main" id="{DCDF2AFB-C5DE-4F84-8C9E-03D1C8F5F7B0}"/>
              </a:ext>
            </a:extLst>
          </p:cNvPr>
          <p:cNvSpPr>
            <a:spLocks noGrp="1"/>
          </p:cNvSpPr>
          <p:nvPr/>
        </p:nvSpPr>
        <p:spPr>
          <a:xfrm>
            <a:off x="8991600" y="3381375"/>
            <a:ext cx="23050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Быстро вернуть карту к текущему месту.</a:t>
            </a:r>
          </a:p>
        </p:txBody>
      </p:sp>
      <p:sp>
        <p:nvSpPr>
          <p:cNvPr id="17" name="callout-number-3-KML">
            <a:extLst>
              <a:ext uri="{FF2B5EF4-FFF2-40B4-BE49-F238E27FC236}">
                <a16:creationId xmlns:a16="http://schemas.microsoft.com/office/drawing/2014/main" id="{C8ABF45A-C3A2-4C9B-BA6B-A801BD64FAA1}"/>
              </a:ext>
            </a:extLst>
          </p:cNvPr>
          <p:cNvSpPr>
            <a:spLocks noGrp="1"/>
          </p:cNvSpPr>
          <p:nvPr/>
        </p:nvSpPr>
        <p:spPr>
          <a:xfrm>
            <a:off x="8458200" y="44196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callout-circle-3-KML">
            <a:extLst>
              <a:ext uri="{FF2B5EF4-FFF2-40B4-BE49-F238E27FC236}">
                <a16:creationId xmlns:a16="http://schemas.microsoft.com/office/drawing/2014/main" id="{AD86F2CE-E681-4D4C-B86E-E45F2E9886EE}"/>
              </a:ext>
            </a:extLst>
          </p:cNvPr>
          <p:cNvSpPr>
            <a:spLocks noGrp="1"/>
          </p:cNvSpPr>
          <p:nvPr/>
        </p:nvSpPr>
        <p:spPr>
          <a:xfrm>
            <a:off x="8458200" y="4419600"/>
            <a:ext cx="400050" cy="400050"/>
          </a:xfrm>
          <a:prstGeom prst="ellipse">
            <a:avLst/>
          </a:prstGeom>
          <a:solidFill>
            <a:srgbClr val="11875D"/>
          </a:solidFill>
          <a:ln w="0">
            <a:solidFill>
              <a:srgbClr val="11875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callout-title-KML">
            <a:extLst>
              <a:ext uri="{FF2B5EF4-FFF2-40B4-BE49-F238E27FC236}">
                <a16:creationId xmlns:a16="http://schemas.microsoft.com/office/drawing/2014/main" id="{0E37696D-B8E1-489F-B9EF-F9C58EA5AD6D}"/>
              </a:ext>
            </a:extLst>
          </p:cNvPr>
          <p:cNvSpPr>
            <a:spLocks noGrp="1"/>
          </p:cNvSpPr>
          <p:nvPr/>
        </p:nvSpPr>
        <p:spPr>
          <a:xfrm>
            <a:off x="8991600" y="4410075"/>
            <a:ext cx="2305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KML</a:t>
            </a:r>
          </a:p>
        </p:txBody>
      </p:sp>
      <p:sp>
        <p:nvSpPr>
          <p:cNvPr id="20" name="callout-body-KML">
            <a:extLst>
              <a:ext uri="{FF2B5EF4-FFF2-40B4-BE49-F238E27FC236}">
                <a16:creationId xmlns:a16="http://schemas.microsoft.com/office/drawing/2014/main" id="{56E7BDE7-E44C-4E3B-8E60-F1DDD5032A7C}"/>
              </a:ext>
            </a:extLst>
          </p:cNvPr>
          <p:cNvSpPr>
            <a:spLocks noGrp="1"/>
          </p:cNvSpPr>
          <p:nvPr/>
        </p:nvSpPr>
        <p:spPr>
          <a:xfrm>
            <a:off x="8991600" y="4714875"/>
            <a:ext cx="230505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Экспортировать видимые объекты для GIS и Google Earth.</a:t>
            </a:r>
          </a:p>
        </p:txBody>
      </p:sp>
    </p:spTree>
    <p:extLst>
      <p:ext uri="{BB962C8B-B14F-4D97-AF65-F5344CB8AC3E}">
        <p14:creationId xmlns:p14="http://schemas.microsoft.com/office/powerpoint/2010/main" val="656409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-13">
            <a:extLst>
              <a:ext uri="{FF2B5EF4-FFF2-40B4-BE49-F238E27FC236}">
                <a16:creationId xmlns:a16="http://schemas.microsoft.com/office/drawing/2014/main" id="{BECF19F9-2558-46A9-8425-0A8F2FD32C39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30480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КАРТА</a:t>
            </a:r>
          </a:p>
        </p:txBody>
      </p:sp>
      <p:sp>
        <p:nvSpPr>
          <p:cNvPr id="2" name="title-13">
            <a:extLst>
              <a:ext uri="{FF2B5EF4-FFF2-40B4-BE49-F238E27FC236}">
                <a16:creationId xmlns:a16="http://schemas.microsoft.com/office/drawing/2014/main" id="{7DDFF7A2-05DB-4F6A-9901-13C5A6062A9A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1125200" cy="59055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Офлайн-тайлы сохраняют карту без связи</a:t>
            </a:r>
          </a:p>
        </p:txBody>
      </p:sp>
      <p:sp>
        <p:nvSpPr>
          <p:cNvPr id="3" name="rule-13">
            <a:extLst>
              <a:ext uri="{FF2B5EF4-FFF2-40B4-BE49-F238E27FC236}">
                <a16:creationId xmlns:a16="http://schemas.microsoft.com/office/drawing/2014/main" id="{C1E5114E-C8D8-4942-A6EE-D2DBC6FC9F8D}"/>
              </a:ext>
            </a:extLst>
          </p:cNvPr>
          <p:cNvSpPr>
            <a:spLocks noGrp="1"/>
          </p:cNvSpPr>
          <p:nvPr/>
        </p:nvSpPr>
        <p:spPr>
          <a:xfrm>
            <a:off x="523875" y="1314450"/>
            <a:ext cx="228600" cy="228600"/>
          </a:xfrm>
          <a:prstGeom prst="rect">
            <a:avLst/>
          </a:prstGeom>
          <a:solidFill>
            <a:srgbClr val="D8DDE6"/>
          </a:solidFill>
          <a:ln w="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-number-13">
            <a:extLst>
              <a:ext uri="{FF2B5EF4-FFF2-40B4-BE49-F238E27FC236}">
                <a16:creationId xmlns:a16="http://schemas.microsoft.com/office/drawing/2014/main" id="{53DC9C34-58E5-4093-BE70-1AE3B601209A}"/>
              </a:ext>
            </a:extLst>
          </p:cNvPr>
          <p:cNvSpPr>
            <a:spLocks noGrp="1"/>
          </p:cNvSpPr>
          <p:nvPr/>
        </p:nvSpPr>
        <p:spPr>
          <a:xfrm>
            <a:off x="523875" y="64293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link-РАЗДЕЛЫ">
            <a:hlinkClick r:id="rId3" action="ppaction://hlinksldjump"/>
            <a:extLst>
              <a:ext uri="{FF2B5EF4-FFF2-40B4-BE49-F238E27FC236}">
                <a16:creationId xmlns:a16="http://schemas.microsoft.com/office/drawing/2014/main" id="{993253A4-84CB-43ED-9A17-177F3AD7727E}"/>
              </a:ext>
            </a:extLst>
          </p:cNvPr>
          <p:cNvSpPr>
            <a:spLocks noGrp="1"/>
          </p:cNvSpPr>
          <p:nvPr/>
        </p:nvSpPr>
        <p:spPr>
          <a:xfrm>
            <a:off x="8648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РАЗДЕЛЫ</a:t>
            </a:r>
          </a:p>
        </p:txBody>
      </p:sp>
      <p:sp>
        <p:nvSpPr>
          <p:cNvPr id="6" name="link-←">
            <a:hlinkClick r:id="rId4" action="ppaction://hlinksldjump"/>
            <a:extLst>
              <a:ext uri="{FF2B5EF4-FFF2-40B4-BE49-F238E27FC236}">
                <a16:creationId xmlns:a16="http://schemas.microsoft.com/office/drawing/2014/main" id="{9A5CBFEF-A941-47D6-8E16-212CB6519222}"/>
              </a:ext>
            </a:extLst>
          </p:cNvPr>
          <p:cNvSpPr>
            <a:spLocks noGrp="1"/>
          </p:cNvSpPr>
          <p:nvPr/>
        </p:nvSpPr>
        <p:spPr>
          <a:xfrm>
            <a:off x="9867900" y="630555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7" name="link-→">
            <a:hlinkClick r:id="rId5" action="ppaction://hlinksldjump"/>
            <a:extLst>
              <a:ext uri="{FF2B5EF4-FFF2-40B4-BE49-F238E27FC236}">
                <a16:creationId xmlns:a16="http://schemas.microsoft.com/office/drawing/2014/main" id="{50072CD8-9217-464B-977E-FE1C31C2FEA5}"/>
              </a:ext>
            </a:extLst>
          </p:cNvPr>
          <p:cNvSpPr>
            <a:spLocks noGrp="1"/>
          </p:cNvSpPr>
          <p:nvPr/>
        </p:nvSpPr>
        <p:spPr>
          <a:xfrm>
            <a:off x="10553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295943" y="1583689"/>
            <a:ext cx="1980613" cy="4281172"/>
          </a:xfrm>
          <a:prstGeom prst="roundRect">
            <a:avLst/>
          </a:prstGeom>
        </p:spPr>
      </p:pic>
      <p:sp>
        <p:nvSpPr>
          <p:cNvPr id="9" name="offline-before">
            <a:extLst>
              <a:ext uri="{FF2B5EF4-FFF2-40B4-BE49-F238E27FC236}">
                <a16:creationId xmlns:a16="http://schemas.microsoft.com/office/drawing/2014/main" id="{7D32E277-6DE8-4BA8-8984-04E78536B5F5}"/>
              </a:ext>
            </a:extLst>
          </p:cNvPr>
          <p:cNvSpPr>
            <a:spLocks noGrp="1"/>
          </p:cNvSpPr>
          <p:nvPr/>
        </p:nvSpPr>
        <p:spPr>
          <a:xfrm>
            <a:off x="8401050" y="17526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87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Перед выездом</a:t>
            </a:r>
          </a:p>
        </p:txBody>
      </p:sp>
      <p:sp>
        <p:nvSpPr>
          <p:cNvPr id="10" name="offline-before-body">
            <a:extLst>
              <a:ext uri="{FF2B5EF4-FFF2-40B4-BE49-F238E27FC236}">
                <a16:creationId xmlns:a16="http://schemas.microsoft.com/office/drawing/2014/main" id="{1E0EECC3-88BD-4140-B59D-18D901EE6191}"/>
              </a:ext>
            </a:extLst>
          </p:cNvPr>
          <p:cNvSpPr>
            <a:spLocks noGrp="1"/>
          </p:cNvSpPr>
          <p:nvPr/>
        </p:nvSpPr>
        <p:spPr>
          <a:xfrm>
            <a:off x="8401050" y="2190750"/>
            <a:ext cx="2857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Откройте нужный масштаб и скачайте текущую область карты.</a:t>
            </a:r>
          </a:p>
        </p:txBody>
      </p:sp>
      <p:sp>
        <p:nvSpPr>
          <p:cNvPr id="11" name="offline-field">
            <a:extLst>
              <a:ext uri="{FF2B5EF4-FFF2-40B4-BE49-F238E27FC236}">
                <a16:creationId xmlns:a16="http://schemas.microsoft.com/office/drawing/2014/main" id="{54C4A99E-B1D8-43C7-ACF4-45DB63081DF3}"/>
              </a:ext>
            </a:extLst>
          </p:cNvPr>
          <p:cNvSpPr>
            <a:spLocks noGrp="1"/>
          </p:cNvSpPr>
          <p:nvPr/>
        </p:nvSpPr>
        <p:spPr>
          <a:xfrm>
            <a:off x="8401050" y="32766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875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В поле</a:t>
            </a:r>
          </a:p>
        </p:txBody>
      </p:sp>
      <p:sp>
        <p:nvSpPr>
          <p:cNvPr id="12" name="offline-field-body">
            <a:extLst>
              <a:ext uri="{FF2B5EF4-FFF2-40B4-BE49-F238E27FC236}">
                <a16:creationId xmlns:a16="http://schemas.microsoft.com/office/drawing/2014/main" id="{A423C8DF-4A4C-4956-9902-BB2529BC7B82}"/>
              </a:ext>
            </a:extLst>
          </p:cNvPr>
          <p:cNvSpPr>
            <a:spLocks noGrp="1"/>
          </p:cNvSpPr>
          <p:nvPr/>
        </p:nvSpPr>
        <p:spPr>
          <a:xfrm>
            <a:off x="8401050" y="3714750"/>
            <a:ext cx="285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Используйте поиск по бирке и список объектов поверх сохранённых тайлов.</a:t>
            </a:r>
          </a:p>
        </p:txBody>
      </p:sp>
      <p:sp>
        <p:nvSpPr>
          <p:cNvPr id="13" name="offline-repair">
            <a:extLst>
              <a:ext uri="{FF2B5EF4-FFF2-40B4-BE49-F238E27FC236}">
                <a16:creationId xmlns:a16="http://schemas.microsoft.com/office/drawing/2014/main" id="{91F2086F-64F9-4535-A9EF-45CB4473C7CA}"/>
              </a:ext>
            </a:extLst>
          </p:cNvPr>
          <p:cNvSpPr>
            <a:spLocks noGrp="1"/>
          </p:cNvSpPr>
          <p:nvPr/>
        </p:nvSpPr>
        <p:spPr>
          <a:xfrm>
            <a:off x="8401050" y="4895850"/>
            <a:ext cx="2857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Если участок отображается неправильно, очистите кэш карты в настройках и загрузите область заново.</a:t>
            </a:r>
          </a:p>
        </p:txBody>
      </p:sp>
    </p:spTree>
    <p:extLst>
      <p:ext uri="{BB962C8B-B14F-4D97-AF65-F5344CB8AC3E}">
        <p14:creationId xmlns:p14="http://schemas.microsoft.com/office/powerpoint/2010/main" val="387715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-14">
            <a:extLst>
              <a:ext uri="{FF2B5EF4-FFF2-40B4-BE49-F238E27FC236}">
                <a16:creationId xmlns:a16="http://schemas.microsoft.com/office/drawing/2014/main" id="{DA040E29-5F91-4D9C-822B-5B775951765C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30480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НАСТРОЙКИ</a:t>
            </a:r>
          </a:p>
        </p:txBody>
      </p:sp>
      <p:sp>
        <p:nvSpPr>
          <p:cNvPr id="2" name="title-14">
            <a:extLst>
              <a:ext uri="{FF2B5EF4-FFF2-40B4-BE49-F238E27FC236}">
                <a16:creationId xmlns:a16="http://schemas.microsoft.com/office/drawing/2014/main" id="{7112E9BF-4D86-43BD-8C43-611185B75DCE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1125200" cy="59055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Настройки принадлежат конкретному проекту</a:t>
            </a:r>
          </a:p>
        </p:txBody>
      </p:sp>
      <p:sp>
        <p:nvSpPr>
          <p:cNvPr id="3" name="rule-14">
            <a:extLst>
              <a:ext uri="{FF2B5EF4-FFF2-40B4-BE49-F238E27FC236}">
                <a16:creationId xmlns:a16="http://schemas.microsoft.com/office/drawing/2014/main" id="{12E8A130-D60D-4316-AC19-6EA5224E7880}"/>
              </a:ext>
            </a:extLst>
          </p:cNvPr>
          <p:cNvSpPr>
            <a:spLocks noGrp="1"/>
          </p:cNvSpPr>
          <p:nvPr/>
        </p:nvSpPr>
        <p:spPr>
          <a:xfrm>
            <a:off x="523875" y="1314450"/>
            <a:ext cx="228600" cy="228600"/>
          </a:xfrm>
          <a:prstGeom prst="rect">
            <a:avLst/>
          </a:prstGeom>
          <a:solidFill>
            <a:srgbClr val="D8DDE6"/>
          </a:solidFill>
          <a:ln w="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-number-14">
            <a:extLst>
              <a:ext uri="{FF2B5EF4-FFF2-40B4-BE49-F238E27FC236}">
                <a16:creationId xmlns:a16="http://schemas.microsoft.com/office/drawing/2014/main" id="{276C6AC7-7C89-4CDF-AE78-686244B4ECF1}"/>
              </a:ext>
            </a:extLst>
          </p:cNvPr>
          <p:cNvSpPr>
            <a:spLocks noGrp="1"/>
          </p:cNvSpPr>
          <p:nvPr/>
        </p:nvSpPr>
        <p:spPr>
          <a:xfrm>
            <a:off x="523875" y="64293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link-РАЗДЕЛЫ">
            <a:hlinkClick r:id="rId3" action="ppaction://hlinksldjump"/>
            <a:extLst>
              <a:ext uri="{FF2B5EF4-FFF2-40B4-BE49-F238E27FC236}">
                <a16:creationId xmlns:a16="http://schemas.microsoft.com/office/drawing/2014/main" id="{2D6821AB-D2D9-4AAB-99E4-CD9681D9F761}"/>
              </a:ext>
            </a:extLst>
          </p:cNvPr>
          <p:cNvSpPr>
            <a:spLocks noGrp="1"/>
          </p:cNvSpPr>
          <p:nvPr/>
        </p:nvSpPr>
        <p:spPr>
          <a:xfrm>
            <a:off x="8648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РАЗДЕЛЫ</a:t>
            </a:r>
          </a:p>
        </p:txBody>
      </p:sp>
      <p:sp>
        <p:nvSpPr>
          <p:cNvPr id="6" name="link-←">
            <a:hlinkClick r:id="rId4" action="ppaction://hlinksldjump"/>
            <a:extLst>
              <a:ext uri="{FF2B5EF4-FFF2-40B4-BE49-F238E27FC236}">
                <a16:creationId xmlns:a16="http://schemas.microsoft.com/office/drawing/2014/main" id="{7F5EA287-A6D3-4BC6-945E-FA1E1F8F017B}"/>
              </a:ext>
            </a:extLst>
          </p:cNvPr>
          <p:cNvSpPr>
            <a:spLocks noGrp="1"/>
          </p:cNvSpPr>
          <p:nvPr/>
        </p:nvSpPr>
        <p:spPr>
          <a:xfrm>
            <a:off x="9867900" y="630555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7" name="link-→">
            <a:hlinkClick r:id="rId5" action="ppaction://hlinksldjump"/>
            <a:extLst>
              <a:ext uri="{FF2B5EF4-FFF2-40B4-BE49-F238E27FC236}">
                <a16:creationId xmlns:a16="http://schemas.microsoft.com/office/drawing/2014/main" id="{5A499AF3-34AB-4D4D-89FA-A5C672B99B1A}"/>
              </a:ext>
            </a:extLst>
          </p:cNvPr>
          <p:cNvSpPr>
            <a:spLocks noGrp="1"/>
          </p:cNvSpPr>
          <p:nvPr/>
        </p:nvSpPr>
        <p:spPr>
          <a:xfrm>
            <a:off x="10553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295943" y="1584597"/>
            <a:ext cx="1980613" cy="4279356"/>
          </a:xfrm>
          <a:prstGeom prst="roundRect">
            <a:avLst/>
          </a:prstGeom>
        </p:spPr>
      </p:pic>
      <p:sp>
        <p:nvSpPr>
          <p:cNvPr id="9" name="settings-list-title">
            <a:extLst>
              <a:ext uri="{FF2B5EF4-FFF2-40B4-BE49-F238E27FC236}">
                <a16:creationId xmlns:a16="http://schemas.microsoft.com/office/drawing/2014/main" id="{9AE053CD-A80F-4611-B4DF-6A1469FBB685}"/>
              </a:ext>
            </a:extLst>
          </p:cNvPr>
          <p:cNvSpPr>
            <a:spLocks noGrp="1"/>
          </p:cNvSpPr>
          <p:nvPr/>
        </p:nvSpPr>
        <p:spPr>
          <a:xfrm>
            <a:off x="8401050" y="17526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Здесь настраиваются</a:t>
            </a:r>
          </a:p>
        </p:txBody>
      </p:sp>
      <p:sp>
        <p:nvSpPr>
          <p:cNvPr id="10" name="settings-dash-0">
            <a:extLst>
              <a:ext uri="{FF2B5EF4-FFF2-40B4-BE49-F238E27FC236}">
                <a16:creationId xmlns:a16="http://schemas.microsoft.com/office/drawing/2014/main" id="{FCFD6EDE-341C-4864-8F74-BD8DBA47C4F1}"/>
              </a:ext>
            </a:extLst>
          </p:cNvPr>
          <p:cNvSpPr>
            <a:spLocks noGrp="1"/>
          </p:cNvSpPr>
          <p:nvPr/>
        </p:nvSpPr>
        <p:spPr>
          <a:xfrm>
            <a:off x="8420100" y="240030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" name="settings-item-0">
            <a:extLst>
              <a:ext uri="{FF2B5EF4-FFF2-40B4-BE49-F238E27FC236}">
                <a16:creationId xmlns:a16="http://schemas.microsoft.com/office/drawing/2014/main" id="{7140E5EB-1302-4AA8-9FEE-5A3CEAC00829}"/>
              </a:ext>
            </a:extLst>
          </p:cNvPr>
          <p:cNvSpPr>
            <a:spLocks noGrp="1"/>
          </p:cNvSpPr>
          <p:nvPr/>
        </p:nvSpPr>
        <p:spPr>
          <a:xfrm>
            <a:off x="8743950" y="2352675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тип и имя проекта</a:t>
            </a:r>
          </a:p>
        </p:txBody>
      </p:sp>
      <p:sp>
        <p:nvSpPr>
          <p:cNvPr id="12" name="settings-dash-1">
            <a:extLst>
              <a:ext uri="{FF2B5EF4-FFF2-40B4-BE49-F238E27FC236}">
                <a16:creationId xmlns:a16="http://schemas.microsoft.com/office/drawing/2014/main" id="{1463AA4F-7740-4752-B5A7-D7BDE7E9781D}"/>
              </a:ext>
            </a:extLst>
          </p:cNvPr>
          <p:cNvSpPr>
            <a:spLocks noGrp="1"/>
          </p:cNvSpPr>
          <p:nvPr/>
        </p:nvSpPr>
        <p:spPr>
          <a:xfrm>
            <a:off x="8420100" y="29432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3" name="settings-item-1">
            <a:extLst>
              <a:ext uri="{FF2B5EF4-FFF2-40B4-BE49-F238E27FC236}">
                <a16:creationId xmlns:a16="http://schemas.microsoft.com/office/drawing/2014/main" id="{0B215060-154D-4831-982D-767EE358FC49}"/>
              </a:ext>
            </a:extLst>
          </p:cNvPr>
          <p:cNvSpPr>
            <a:spLocks noGrp="1"/>
          </p:cNvSpPr>
          <p:nvPr/>
        </p:nvSpPr>
        <p:spPr>
          <a:xfrm>
            <a:off x="8743950" y="289560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режим мониторинга в Excel</a:t>
            </a:r>
          </a:p>
        </p:txBody>
      </p:sp>
      <p:sp>
        <p:nvSpPr>
          <p:cNvPr id="14" name="settings-dash-2">
            <a:extLst>
              <a:ext uri="{FF2B5EF4-FFF2-40B4-BE49-F238E27FC236}">
                <a16:creationId xmlns:a16="http://schemas.microsoft.com/office/drawing/2014/main" id="{EF2E7AD5-C833-46C6-B285-4484CA660EE3}"/>
              </a:ext>
            </a:extLst>
          </p:cNvPr>
          <p:cNvSpPr>
            <a:spLocks noGrp="1"/>
          </p:cNvSpPr>
          <p:nvPr/>
        </p:nvSpPr>
        <p:spPr>
          <a:xfrm>
            <a:off x="8420100" y="34861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5" name="settings-item-2">
            <a:extLst>
              <a:ext uri="{FF2B5EF4-FFF2-40B4-BE49-F238E27FC236}">
                <a16:creationId xmlns:a16="http://schemas.microsoft.com/office/drawing/2014/main" id="{00C090C4-078A-46A7-8F88-214C532F2F52}"/>
              </a:ext>
            </a:extLst>
          </p:cNvPr>
          <p:cNvSpPr>
            <a:spLocks noGrp="1"/>
          </p:cNvSpPr>
          <p:nvPr/>
        </p:nvSpPr>
        <p:spPr>
          <a:xfrm>
            <a:off x="8743950" y="3438525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видимость полей и Excel</a:t>
            </a:r>
          </a:p>
        </p:txBody>
      </p:sp>
      <p:sp>
        <p:nvSpPr>
          <p:cNvPr id="16" name="settings-dash-3">
            <a:extLst>
              <a:ext uri="{FF2B5EF4-FFF2-40B4-BE49-F238E27FC236}">
                <a16:creationId xmlns:a16="http://schemas.microsoft.com/office/drawing/2014/main" id="{474B87E5-9A64-4B82-B051-4172412BA107}"/>
              </a:ext>
            </a:extLst>
          </p:cNvPr>
          <p:cNvSpPr>
            <a:spLocks noGrp="1"/>
          </p:cNvSpPr>
          <p:nvPr/>
        </p:nvSpPr>
        <p:spPr>
          <a:xfrm>
            <a:off x="8420100" y="402907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" name="settings-item-3">
            <a:extLst>
              <a:ext uri="{FF2B5EF4-FFF2-40B4-BE49-F238E27FC236}">
                <a16:creationId xmlns:a16="http://schemas.microsoft.com/office/drawing/2014/main" id="{9FC49658-F500-4EC1-B268-01E136188FB2}"/>
              </a:ext>
            </a:extLst>
          </p:cNvPr>
          <p:cNvSpPr>
            <a:spLocks noGrp="1"/>
          </p:cNvSpPr>
          <p:nvPr/>
        </p:nvSpPr>
        <p:spPr>
          <a:xfrm>
            <a:off x="8743950" y="398145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обязательность фотографий</a:t>
            </a:r>
          </a:p>
        </p:txBody>
      </p:sp>
      <p:sp>
        <p:nvSpPr>
          <p:cNvPr id="18" name="settings-dash-4">
            <a:extLst>
              <a:ext uri="{FF2B5EF4-FFF2-40B4-BE49-F238E27FC236}">
                <a16:creationId xmlns:a16="http://schemas.microsoft.com/office/drawing/2014/main" id="{935E2935-57AE-4560-BF98-78B505845F52}"/>
              </a:ext>
            </a:extLst>
          </p:cNvPr>
          <p:cNvSpPr>
            <a:spLocks noGrp="1"/>
          </p:cNvSpPr>
          <p:nvPr/>
        </p:nvSpPr>
        <p:spPr>
          <a:xfrm>
            <a:off x="8420100" y="457200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9" name="settings-item-4">
            <a:extLst>
              <a:ext uri="{FF2B5EF4-FFF2-40B4-BE49-F238E27FC236}">
                <a16:creationId xmlns:a16="http://schemas.microsoft.com/office/drawing/2014/main" id="{D01E5F02-4946-4EB5-BCCC-E88451572B2A}"/>
              </a:ext>
            </a:extLst>
          </p:cNvPr>
          <p:cNvSpPr>
            <a:spLocks noGrp="1"/>
          </p:cNvSpPr>
          <p:nvPr/>
        </p:nvSpPr>
        <p:spPr>
          <a:xfrm>
            <a:off x="8743950" y="4524375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язык и светлая/тёмная тема</a:t>
            </a:r>
          </a:p>
        </p:txBody>
      </p:sp>
      <p:sp>
        <p:nvSpPr>
          <p:cNvPr id="20" name="protected-photos">
            <a:extLst>
              <a:ext uri="{FF2B5EF4-FFF2-40B4-BE49-F238E27FC236}">
                <a16:creationId xmlns:a16="http://schemas.microsoft.com/office/drawing/2014/main" id="{9A554838-1637-49FB-9050-8A7BB649A970}"/>
              </a:ext>
            </a:extLst>
          </p:cNvPr>
          <p:cNvSpPr>
            <a:spLocks noGrp="1"/>
          </p:cNvSpPr>
          <p:nvPr/>
        </p:nvSpPr>
        <p:spPr>
          <a:xfrm>
            <a:off x="8401050" y="5219700"/>
            <a:ext cx="2914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 b="1">
                <a:solidFill>
                  <a:srgbClr val="071A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A45"/>
                </a:solidFill>
                <a:latin typeface="Arial"/>
                <a:ea typeface="Arial"/>
                <a:cs typeface="Arial"/>
              </a:rPr>
              <a:t>Фото утечки, ремонта и результата защищены: их нельзя скрыть как обычные поля.</a:t>
            </a:r>
          </a:p>
        </p:txBody>
      </p:sp>
    </p:spTree>
    <p:extLst>
      <p:ext uri="{BB962C8B-B14F-4D97-AF65-F5344CB8AC3E}">
        <p14:creationId xmlns:p14="http://schemas.microsoft.com/office/powerpoint/2010/main" val="763154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ction-15">
            <a:extLst>
              <a:ext uri="{FF2B5EF4-FFF2-40B4-BE49-F238E27FC236}">
                <a16:creationId xmlns:a16="http://schemas.microsoft.com/office/drawing/2014/main" id="{8DB82CF6-D097-4F32-9440-F0A09F91115A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30480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ПЕРЕНОС ДАННЫХ</a:t>
            </a:r>
          </a:p>
        </p:txBody>
      </p:sp>
      <p:sp>
        <p:nvSpPr>
          <p:cNvPr id="2" name="title-15">
            <a:extLst>
              <a:ext uri="{FF2B5EF4-FFF2-40B4-BE49-F238E27FC236}">
                <a16:creationId xmlns:a16="http://schemas.microsoft.com/office/drawing/2014/main" id="{A1110356-20EB-442E-A0A9-D8A5E1E26D3F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1125200" cy="590550"/>
          </a:xfrm>
          <a:prstGeom prst="rect">
            <a:avLst/>
          </a:prstGeom>
        </p:spPr>
        <p:txBody>
          <a:bodyPr lIns="0" tIns="0" rIns="0" bIns="0">
            <a:normAutofit fontScale="97392"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ZIP-backup и Excel-архив переносят проект целиком</a:t>
            </a:r>
          </a:p>
        </p:txBody>
      </p:sp>
      <p:sp>
        <p:nvSpPr>
          <p:cNvPr id="4" name="slide-number-15">
            <a:extLst>
              <a:ext uri="{FF2B5EF4-FFF2-40B4-BE49-F238E27FC236}">
                <a16:creationId xmlns:a16="http://schemas.microsoft.com/office/drawing/2014/main" id="{DF28CC45-2E35-404D-8F1D-DCEA89E76207}"/>
              </a:ext>
            </a:extLst>
          </p:cNvPr>
          <p:cNvSpPr>
            <a:spLocks noGrp="1"/>
          </p:cNvSpPr>
          <p:nvPr/>
        </p:nvSpPr>
        <p:spPr>
          <a:xfrm>
            <a:off x="523875" y="64293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link-РАЗДЕЛЫ">
            <a:hlinkClick r:id="rId3" action="ppaction://hlinksldjump"/>
            <a:extLst>
              <a:ext uri="{FF2B5EF4-FFF2-40B4-BE49-F238E27FC236}">
                <a16:creationId xmlns:a16="http://schemas.microsoft.com/office/drawing/2014/main" id="{152F784C-8D00-475C-A9FB-DEDA78FA546B}"/>
              </a:ext>
            </a:extLst>
          </p:cNvPr>
          <p:cNvSpPr>
            <a:spLocks noGrp="1"/>
          </p:cNvSpPr>
          <p:nvPr/>
        </p:nvSpPr>
        <p:spPr>
          <a:xfrm>
            <a:off x="8648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РАЗДЕЛЫ</a:t>
            </a:r>
          </a:p>
        </p:txBody>
      </p:sp>
      <p:sp>
        <p:nvSpPr>
          <p:cNvPr id="6" name="link-←">
            <a:hlinkClick r:id="rId4" action="ppaction://hlinksldjump"/>
            <a:extLst>
              <a:ext uri="{FF2B5EF4-FFF2-40B4-BE49-F238E27FC236}">
                <a16:creationId xmlns:a16="http://schemas.microsoft.com/office/drawing/2014/main" id="{9C977340-C0C4-47BE-8AC6-BC66A492E963}"/>
              </a:ext>
            </a:extLst>
          </p:cNvPr>
          <p:cNvSpPr>
            <a:spLocks noGrp="1"/>
          </p:cNvSpPr>
          <p:nvPr/>
        </p:nvSpPr>
        <p:spPr>
          <a:xfrm>
            <a:off x="9867900" y="630555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7" name="link-→">
            <a:hlinkClick r:id="rId5" action="ppaction://hlinksldjump"/>
            <a:extLst>
              <a:ext uri="{FF2B5EF4-FFF2-40B4-BE49-F238E27FC236}">
                <a16:creationId xmlns:a16="http://schemas.microsoft.com/office/drawing/2014/main" id="{D3DAD551-407D-4166-B762-DD5EB701C06A}"/>
              </a:ext>
            </a:extLst>
          </p:cNvPr>
          <p:cNvSpPr>
            <a:spLocks noGrp="1"/>
          </p:cNvSpPr>
          <p:nvPr/>
        </p:nvSpPr>
        <p:spPr>
          <a:xfrm>
            <a:off x="10553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75" name="Рисунок 7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438693" y="1584597"/>
            <a:ext cx="1980613" cy="4279356"/>
          </a:xfrm>
          <a:prstGeom prst="roundRect">
            <a:avLst/>
          </a:prstGeom>
        </p:spPr>
      </p:pic>
      <p:cxnSp>
        <p:nvCxnSpPr>
          <p:cNvPr id="76" name="backup-arrow-1"/>
          <p:cNvCxnSpPr/>
          <p:nvPr/>
        </p:nvCxnSpPr>
        <p:spPr>
          <a:xfrm>
            <a:off x="7277100" y="2857500"/>
            <a:ext cx="1381125" cy="0"/>
          </a:xfrm>
          <a:prstGeom prst="straightConnector1">
            <a:avLst/>
          </a:prstGeom>
          <a:ln w="28575">
            <a:solidFill>
              <a:srgbClr val="246BFD"/>
            </a:solidFill>
            <a:prstDash val="solid"/>
          </a:ln>
        </p:spPr>
      </p:cxnSp>
      <p:cxnSp>
        <p:nvCxnSpPr>
          <p:cNvPr id="77" name="backup-arrow-2"/>
          <p:cNvCxnSpPr/>
          <p:nvPr/>
        </p:nvCxnSpPr>
        <p:spPr>
          <a:xfrm>
            <a:off x="9639300" y="2857500"/>
            <a:ext cx="1381125" cy="0"/>
          </a:xfrm>
          <a:prstGeom prst="straightConnector1">
            <a:avLst/>
          </a:prstGeom>
          <a:ln w="28575">
            <a:solidFill>
              <a:srgbClr val="246BFD"/>
            </a:solidFill>
            <a:prstDash val="solid"/>
          </a:ln>
        </p:spPr>
      </p:cxnSp>
      <p:sp>
        <p:nvSpPr>
          <p:cNvPr id="11" name="sync-node-0">
            <a:extLst>
              <a:ext uri="{FF2B5EF4-FFF2-40B4-BE49-F238E27FC236}">
                <a16:creationId xmlns:a16="http://schemas.microsoft.com/office/drawing/2014/main" id="{419FF1C9-1E26-4896-ABD5-F936A7449142}"/>
              </a:ext>
            </a:extLst>
          </p:cNvPr>
          <p:cNvSpPr>
            <a:spLocks noGrp="1"/>
          </p:cNvSpPr>
          <p:nvPr/>
        </p:nvSpPr>
        <p:spPr>
          <a:xfrm>
            <a:off x="6362700" y="2457450"/>
            <a:ext cx="800100" cy="800100"/>
          </a:xfrm>
          <a:prstGeom prst="ellipse">
            <a:avLst/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ync-icon-0">
            <a:extLst>
              <a:ext uri="{FF2B5EF4-FFF2-40B4-BE49-F238E27FC236}">
                <a16:creationId xmlns:a16="http://schemas.microsoft.com/office/drawing/2014/main" id="{9EB1A2D9-93FC-4363-962F-58CBE25636AE}"/>
              </a:ext>
            </a:extLst>
          </p:cNvPr>
          <p:cNvSpPr>
            <a:spLocks noGrp="1"/>
          </p:cNvSpPr>
          <p:nvPr/>
        </p:nvSpPr>
        <p:spPr>
          <a:xfrm>
            <a:off x="6477000" y="264795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▣</a:t>
            </a:r>
          </a:p>
        </p:txBody>
      </p:sp>
      <p:sp>
        <p:nvSpPr>
          <p:cNvPr id="13" name="sync-title-0">
            <a:extLst>
              <a:ext uri="{FF2B5EF4-FFF2-40B4-BE49-F238E27FC236}">
                <a16:creationId xmlns:a16="http://schemas.microsoft.com/office/drawing/2014/main" id="{6A013165-A729-439D-A7FF-E90628CB1441}"/>
              </a:ext>
            </a:extLst>
          </p:cNvPr>
          <p:cNvSpPr>
            <a:spLocks noGrp="1"/>
          </p:cNvSpPr>
          <p:nvPr/>
        </p:nvSpPr>
        <p:spPr>
          <a:xfrm>
            <a:off x="6076950" y="34480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Телефон A</a:t>
            </a:r>
          </a:p>
        </p:txBody>
      </p:sp>
      <p:sp>
        <p:nvSpPr>
          <p:cNvPr id="14" name="sync-body-0">
            <a:extLst>
              <a:ext uri="{FF2B5EF4-FFF2-40B4-BE49-F238E27FC236}">
                <a16:creationId xmlns:a16="http://schemas.microsoft.com/office/drawing/2014/main" id="{CA1F70DE-880E-49CA-A015-5F2683C807CC}"/>
              </a:ext>
            </a:extLst>
          </p:cNvPr>
          <p:cNvSpPr>
            <a:spLocks noGrp="1"/>
          </p:cNvSpPr>
          <p:nvPr/>
        </p:nvSpPr>
        <p:spPr>
          <a:xfrm>
            <a:off x="6019800" y="3848100"/>
            <a:ext cx="1485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3"/>
                </a:solidFill>
                <a:latin typeface="Arial"/>
                <a:ea typeface="Arial"/>
                <a:cs typeface="Arial"/>
              </a:rPr>
              <a:t>Экспорт ZIP, Excel-архив</a:t>
            </a:r>
          </a:p>
          <a:p>
            <a:pPr algn="ctr">
              <a:buNone/>
              <a:defRPr sz="120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3"/>
                </a:solidFill>
                <a:latin typeface="Arial"/>
                <a:ea typeface="Arial"/>
                <a:cs typeface="Arial"/>
              </a:rPr>
              <a:t>или QR-хост</a:t>
            </a:r>
          </a:p>
        </p:txBody>
      </p:sp>
      <p:sp>
        <p:nvSpPr>
          <p:cNvPr id="15" name="sync-node-1">
            <a:extLst>
              <a:ext uri="{FF2B5EF4-FFF2-40B4-BE49-F238E27FC236}">
                <a16:creationId xmlns:a16="http://schemas.microsoft.com/office/drawing/2014/main" id="{556E32F8-28BE-4A7E-B714-3FE51A72CB7B}"/>
              </a:ext>
            </a:extLst>
          </p:cNvPr>
          <p:cNvSpPr>
            <a:spLocks noGrp="1"/>
          </p:cNvSpPr>
          <p:nvPr/>
        </p:nvSpPr>
        <p:spPr>
          <a:xfrm>
            <a:off x="8362950" y="2457450"/>
            <a:ext cx="800100" cy="80010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ync-icon-1">
            <a:extLst>
              <a:ext uri="{FF2B5EF4-FFF2-40B4-BE49-F238E27FC236}">
                <a16:creationId xmlns:a16="http://schemas.microsoft.com/office/drawing/2014/main" id="{583C74D4-D2AC-4C0A-8A5F-CE6BBDCA5024}"/>
              </a:ext>
            </a:extLst>
          </p:cNvPr>
          <p:cNvSpPr>
            <a:spLocks noGrp="1"/>
          </p:cNvSpPr>
          <p:nvPr/>
        </p:nvSpPr>
        <p:spPr>
          <a:xfrm>
            <a:off x="8477250" y="264795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ZIP</a:t>
            </a:r>
          </a:p>
        </p:txBody>
      </p:sp>
      <p:sp>
        <p:nvSpPr>
          <p:cNvPr id="17" name="sync-title-1">
            <a:extLst>
              <a:ext uri="{FF2B5EF4-FFF2-40B4-BE49-F238E27FC236}">
                <a16:creationId xmlns:a16="http://schemas.microsoft.com/office/drawing/2014/main" id="{9F9A5D35-34A0-4069-9081-F92461211D6E}"/>
              </a:ext>
            </a:extLst>
          </p:cNvPr>
          <p:cNvSpPr>
            <a:spLocks noGrp="1"/>
          </p:cNvSpPr>
          <p:nvPr/>
        </p:nvSpPr>
        <p:spPr>
          <a:xfrm>
            <a:off x="8077200" y="34480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Архив</a:t>
            </a:r>
          </a:p>
        </p:txBody>
      </p:sp>
      <p:sp>
        <p:nvSpPr>
          <p:cNvPr id="18" name="sync-body-1">
            <a:extLst>
              <a:ext uri="{FF2B5EF4-FFF2-40B4-BE49-F238E27FC236}">
                <a16:creationId xmlns:a16="http://schemas.microsoft.com/office/drawing/2014/main" id="{76C75456-0270-4C91-996A-225A95C37A56}"/>
              </a:ext>
            </a:extLst>
          </p:cNvPr>
          <p:cNvSpPr>
            <a:spLocks noGrp="1"/>
          </p:cNvSpPr>
          <p:nvPr/>
        </p:nvSpPr>
        <p:spPr>
          <a:xfrm>
            <a:off x="8020050" y="3848100"/>
            <a:ext cx="1485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3"/>
                </a:solidFill>
                <a:latin typeface="Arial"/>
                <a:ea typeface="Arial"/>
                <a:cs typeface="Arial"/>
              </a:rPr>
              <a:t>Записи + фото</a:t>
            </a:r>
          </a:p>
          <a:p>
            <a:pPr algn="ctr">
              <a:buNone/>
              <a:defRPr sz="120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3"/>
                </a:solidFill>
                <a:latin typeface="Arial"/>
                <a:ea typeface="Arial"/>
                <a:cs typeface="Arial"/>
              </a:rPr>
              <a:t>+ настройки + sync</a:t>
            </a:r>
          </a:p>
        </p:txBody>
      </p:sp>
      <p:sp>
        <p:nvSpPr>
          <p:cNvPr id="19" name="sync-node-2">
            <a:extLst>
              <a:ext uri="{FF2B5EF4-FFF2-40B4-BE49-F238E27FC236}">
                <a16:creationId xmlns:a16="http://schemas.microsoft.com/office/drawing/2014/main" id="{22E01526-8E56-4BB9-8014-2356A543D962}"/>
              </a:ext>
            </a:extLst>
          </p:cNvPr>
          <p:cNvSpPr>
            <a:spLocks noGrp="1"/>
          </p:cNvSpPr>
          <p:nvPr/>
        </p:nvSpPr>
        <p:spPr>
          <a:xfrm>
            <a:off x="10363200" y="2457450"/>
            <a:ext cx="800100" cy="800100"/>
          </a:xfrm>
          <a:prstGeom prst="ellipse">
            <a:avLst/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ync-icon-2">
            <a:extLst>
              <a:ext uri="{FF2B5EF4-FFF2-40B4-BE49-F238E27FC236}">
                <a16:creationId xmlns:a16="http://schemas.microsoft.com/office/drawing/2014/main" id="{70067C32-EBB3-4A1A-8786-316BC472D97D}"/>
              </a:ext>
            </a:extLst>
          </p:cNvPr>
          <p:cNvSpPr>
            <a:spLocks noGrp="1"/>
          </p:cNvSpPr>
          <p:nvPr/>
        </p:nvSpPr>
        <p:spPr>
          <a:xfrm>
            <a:off x="10477500" y="264795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▣</a:t>
            </a:r>
          </a:p>
        </p:txBody>
      </p:sp>
      <p:sp>
        <p:nvSpPr>
          <p:cNvPr id="21" name="sync-title-2">
            <a:extLst>
              <a:ext uri="{FF2B5EF4-FFF2-40B4-BE49-F238E27FC236}">
                <a16:creationId xmlns:a16="http://schemas.microsoft.com/office/drawing/2014/main" id="{3C08E469-5C7C-4B83-984C-D7BC4625167A}"/>
              </a:ext>
            </a:extLst>
          </p:cNvPr>
          <p:cNvSpPr>
            <a:spLocks noGrp="1"/>
          </p:cNvSpPr>
          <p:nvPr/>
        </p:nvSpPr>
        <p:spPr>
          <a:xfrm>
            <a:off x="10077450" y="34480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Телефон B</a:t>
            </a:r>
          </a:p>
        </p:txBody>
      </p:sp>
      <p:sp>
        <p:nvSpPr>
          <p:cNvPr id="22" name="sync-body-2">
            <a:extLst>
              <a:ext uri="{FF2B5EF4-FFF2-40B4-BE49-F238E27FC236}">
                <a16:creationId xmlns:a16="http://schemas.microsoft.com/office/drawing/2014/main" id="{7F3CCAEC-E2AB-4045-BF28-42448DDDE063}"/>
              </a:ext>
            </a:extLst>
          </p:cNvPr>
          <p:cNvSpPr>
            <a:spLocks noGrp="1"/>
          </p:cNvSpPr>
          <p:nvPr/>
        </p:nvSpPr>
        <p:spPr>
          <a:xfrm>
            <a:off x="10020300" y="3848100"/>
            <a:ext cx="1485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3"/>
                </a:solidFill>
                <a:latin typeface="Arial"/>
                <a:ea typeface="Arial"/>
                <a:cs typeface="Arial"/>
              </a:rPr>
              <a:t>Импорт / merge / copy</a:t>
            </a:r>
          </a:p>
          <a:p>
            <a:pPr algn="ctr">
              <a:buNone/>
              <a:defRPr sz="120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3"/>
                </a:solidFill>
                <a:latin typeface="Arial"/>
                <a:ea typeface="Arial"/>
                <a:cs typeface="Arial"/>
              </a:rPr>
              <a:t>или QR-клиент</a:t>
            </a:r>
          </a:p>
        </p:txBody>
      </p:sp>
      <p:sp>
        <p:nvSpPr>
          <p:cNvPr id="23" name="sync-note">
            <a:extLst>
              <a:ext uri="{FF2B5EF4-FFF2-40B4-BE49-F238E27FC236}">
                <a16:creationId xmlns:a16="http://schemas.microsoft.com/office/drawing/2014/main" id="{2BA8882C-CABF-436D-9AA8-680F92C728F1}"/>
              </a:ext>
            </a:extLst>
          </p:cNvPr>
          <p:cNvSpPr>
            <a:spLocks noGrp="1"/>
          </p:cNvSpPr>
          <p:nvPr/>
        </p:nvSpPr>
        <p:spPr>
          <a:xfrm>
            <a:off x="6667500" y="4895850"/>
            <a:ext cx="4648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071A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A45"/>
                </a:solidFill>
                <a:latin typeface="Arial"/>
                <a:ea typeface="Arial"/>
                <a:cs typeface="Arial"/>
              </a:rPr>
              <a:t>Для локальной синхронизации оба Android-устройства должны быть в одной доверенной Wi‑Fi сети и использовать один sync ID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1704550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ection-16">
            <a:extLst>
              <a:ext uri="{FF2B5EF4-FFF2-40B4-BE49-F238E27FC236}">
                <a16:creationId xmlns:a16="http://schemas.microsoft.com/office/drawing/2014/main" id="{3B23558F-7E9E-43CD-881A-E2A0E7A55508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30480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ОТЧЁТЫ И ВОССТАНОВЛЕНИЕ</a:t>
            </a:r>
          </a:p>
        </p:txBody>
      </p:sp>
      <p:sp>
        <p:nvSpPr>
          <p:cNvPr id="2" name="title-16">
            <a:extLst>
              <a:ext uri="{FF2B5EF4-FFF2-40B4-BE49-F238E27FC236}">
                <a16:creationId xmlns:a16="http://schemas.microsoft.com/office/drawing/2014/main" id="{A7F19240-E425-4A5E-BAE8-649674DC6849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1125200" cy="590550"/>
          </a:xfrm>
          <a:prstGeom prst="rect">
            <a:avLst/>
          </a:prstGeom>
        </p:spPr>
        <p:txBody>
          <a:bodyPr lIns="0" tIns="0" rIns="0" bIns="0">
            <a:normAutofit fontScale="85218"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Импортируйте осторожно, восстанавливайте предсказуемо</a:t>
            </a:r>
          </a:p>
        </p:txBody>
      </p:sp>
      <p:sp>
        <p:nvSpPr>
          <p:cNvPr id="3" name="rule-16">
            <a:extLst>
              <a:ext uri="{FF2B5EF4-FFF2-40B4-BE49-F238E27FC236}">
                <a16:creationId xmlns:a16="http://schemas.microsoft.com/office/drawing/2014/main" id="{6EEBF37E-3C5C-4EFA-9267-184A2A43972A}"/>
              </a:ext>
            </a:extLst>
          </p:cNvPr>
          <p:cNvSpPr>
            <a:spLocks noGrp="1"/>
          </p:cNvSpPr>
          <p:nvPr/>
        </p:nvSpPr>
        <p:spPr>
          <a:xfrm>
            <a:off x="523875" y="1314450"/>
            <a:ext cx="228600" cy="228600"/>
          </a:xfrm>
          <a:prstGeom prst="rect">
            <a:avLst/>
          </a:prstGeom>
          <a:solidFill>
            <a:srgbClr val="D8DDE6"/>
          </a:solidFill>
          <a:ln w="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-number-16">
            <a:extLst>
              <a:ext uri="{FF2B5EF4-FFF2-40B4-BE49-F238E27FC236}">
                <a16:creationId xmlns:a16="http://schemas.microsoft.com/office/drawing/2014/main" id="{DC4A85E2-0DED-4B68-9765-E4984259E6F4}"/>
              </a:ext>
            </a:extLst>
          </p:cNvPr>
          <p:cNvSpPr>
            <a:spLocks noGrp="1"/>
          </p:cNvSpPr>
          <p:nvPr/>
        </p:nvSpPr>
        <p:spPr>
          <a:xfrm>
            <a:off x="523875" y="64293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link-РАЗДЕЛЫ">
            <a:hlinkClick r:id="rId3" action="ppaction://hlinksldjump"/>
            <a:extLst>
              <a:ext uri="{FF2B5EF4-FFF2-40B4-BE49-F238E27FC236}">
                <a16:creationId xmlns:a16="http://schemas.microsoft.com/office/drawing/2014/main" id="{634E3619-97BF-4B87-B5A7-5EDC722CD1D3}"/>
              </a:ext>
            </a:extLst>
          </p:cNvPr>
          <p:cNvSpPr>
            <a:spLocks noGrp="1"/>
          </p:cNvSpPr>
          <p:nvPr/>
        </p:nvSpPr>
        <p:spPr>
          <a:xfrm>
            <a:off x="8648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РАЗДЕЛЫ</a:t>
            </a:r>
          </a:p>
        </p:txBody>
      </p:sp>
      <p:sp>
        <p:nvSpPr>
          <p:cNvPr id="6" name="link-←">
            <a:hlinkClick r:id="rId4" action="ppaction://hlinksldjump"/>
            <a:extLst>
              <a:ext uri="{FF2B5EF4-FFF2-40B4-BE49-F238E27FC236}">
                <a16:creationId xmlns:a16="http://schemas.microsoft.com/office/drawing/2014/main" id="{9CD0DFEB-E557-407F-AFFF-F981B26D34D6}"/>
              </a:ext>
            </a:extLst>
          </p:cNvPr>
          <p:cNvSpPr>
            <a:spLocks noGrp="1"/>
          </p:cNvSpPr>
          <p:nvPr/>
        </p:nvSpPr>
        <p:spPr>
          <a:xfrm>
            <a:off x="9867900" y="630555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7" name="link-→">
            <a:hlinkClick r:id="rId5" action="ppaction://hlinksldjump"/>
            <a:extLst>
              <a:ext uri="{FF2B5EF4-FFF2-40B4-BE49-F238E27FC236}">
                <a16:creationId xmlns:a16="http://schemas.microsoft.com/office/drawing/2014/main" id="{A00CDE3D-2483-4B0E-9D34-6725D9893C7C}"/>
              </a:ext>
            </a:extLst>
          </p:cNvPr>
          <p:cNvSpPr>
            <a:spLocks noGrp="1"/>
          </p:cNvSpPr>
          <p:nvPr/>
        </p:nvSpPr>
        <p:spPr>
          <a:xfrm>
            <a:off x="10553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071A45"/>
          </a:solidFill>
          <a:ln w="9525">
            <a:solidFill>
              <a:srgbClr val="071A45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recovery-col-0">
            <a:extLst>
              <a:ext uri="{FF2B5EF4-FFF2-40B4-BE49-F238E27FC236}">
                <a16:creationId xmlns:a16="http://schemas.microsoft.com/office/drawing/2014/main" id="{4D5E0E44-9A09-46A5-AF59-C5466B28C357}"/>
              </a:ext>
            </a:extLst>
          </p:cNvPr>
          <p:cNvSpPr>
            <a:spLocks noGrp="1"/>
          </p:cNvSpPr>
          <p:nvPr/>
        </p:nvSpPr>
        <p:spPr>
          <a:xfrm>
            <a:off x="523875" y="1695450"/>
            <a:ext cx="3333750" cy="3790950"/>
          </a:xfrm>
          <a:prstGeom prst="rect">
            <a:avLst/>
          </a:prstGeom>
          <a:solidFill>
            <a:srgbClr val="F3F7FF"/>
          </a:solidFill>
          <a:ln w="9525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recovery-title-0">
            <a:extLst>
              <a:ext uri="{FF2B5EF4-FFF2-40B4-BE49-F238E27FC236}">
                <a16:creationId xmlns:a16="http://schemas.microsoft.com/office/drawing/2014/main" id="{ABDBE208-F708-413B-B865-8BA87E14B8C9}"/>
              </a:ext>
            </a:extLst>
          </p:cNvPr>
          <p:cNvSpPr>
            <a:spLocks noGrp="1"/>
          </p:cNvSpPr>
          <p:nvPr/>
        </p:nvSpPr>
        <p:spPr>
          <a:xfrm>
            <a:off x="790575" y="1981200"/>
            <a:ext cx="2800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2100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Excel-архив</a:t>
            </a:r>
          </a:p>
        </p:txBody>
      </p:sp>
      <p:sp>
        <p:nvSpPr>
          <p:cNvPr id="10" name="recovery-check-0-0">
            <a:extLst>
              <a:ext uri="{FF2B5EF4-FFF2-40B4-BE49-F238E27FC236}">
                <a16:creationId xmlns:a16="http://schemas.microsoft.com/office/drawing/2014/main" id="{9EDB730A-FDB7-4749-BF1F-61DF6D290A7A}"/>
              </a:ext>
            </a:extLst>
          </p:cNvPr>
          <p:cNvSpPr>
            <a:spLocks noGrp="1"/>
          </p:cNvSpPr>
          <p:nvPr/>
        </p:nvSpPr>
        <p:spPr>
          <a:xfrm>
            <a:off x="809625" y="27241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recovery-item-0-0">
            <a:extLst>
              <a:ext uri="{FF2B5EF4-FFF2-40B4-BE49-F238E27FC236}">
                <a16:creationId xmlns:a16="http://schemas.microsoft.com/office/drawing/2014/main" id="{FF427CAF-8A31-41AA-998C-8918CABCE45B}"/>
              </a:ext>
            </a:extLst>
          </p:cNvPr>
          <p:cNvSpPr>
            <a:spLocks noGrp="1"/>
          </p:cNvSpPr>
          <p:nvPr/>
        </p:nvSpPr>
        <p:spPr>
          <a:xfrm>
            <a:off x="1171575" y="268605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ZIP содержит XLSX и папку photos/</a:t>
            </a:r>
          </a:p>
        </p:txBody>
      </p:sp>
      <p:sp>
        <p:nvSpPr>
          <p:cNvPr id="12" name="recovery-check-0-1">
            <a:extLst>
              <a:ext uri="{FF2B5EF4-FFF2-40B4-BE49-F238E27FC236}">
                <a16:creationId xmlns:a16="http://schemas.microsoft.com/office/drawing/2014/main" id="{948F73CC-A195-4594-9CBA-0F5D9AA5757F}"/>
              </a:ext>
            </a:extLst>
          </p:cNvPr>
          <p:cNvSpPr>
            <a:spLocks noGrp="1"/>
          </p:cNvSpPr>
          <p:nvPr/>
        </p:nvSpPr>
        <p:spPr>
          <a:xfrm>
            <a:off x="809625" y="33147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recovery-item-0-1">
            <a:extLst>
              <a:ext uri="{FF2B5EF4-FFF2-40B4-BE49-F238E27FC236}">
                <a16:creationId xmlns:a16="http://schemas.microsoft.com/office/drawing/2014/main" id="{DA59C28D-AE08-45B7-8AF0-506730238676}"/>
              </a:ext>
            </a:extLst>
          </p:cNvPr>
          <p:cNvSpPr>
            <a:spLocks noGrp="1"/>
          </p:cNvSpPr>
          <p:nvPr/>
        </p:nvSpPr>
        <p:spPr>
          <a:xfrm>
            <a:off x="1171575" y="327660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Backup — видимый лист внутри XLSX</a:t>
            </a:r>
          </a:p>
        </p:txBody>
      </p:sp>
      <p:sp>
        <p:nvSpPr>
          <p:cNvPr id="14" name="recovery-check-0-2">
            <a:extLst>
              <a:ext uri="{FF2B5EF4-FFF2-40B4-BE49-F238E27FC236}">
                <a16:creationId xmlns:a16="http://schemas.microsoft.com/office/drawing/2014/main" id="{FD99AC3A-5859-4996-B43D-5020EBEF2B27}"/>
              </a:ext>
            </a:extLst>
          </p:cNvPr>
          <p:cNvSpPr>
            <a:spLocks noGrp="1"/>
          </p:cNvSpPr>
          <p:nvPr/>
        </p:nvSpPr>
        <p:spPr>
          <a:xfrm>
            <a:off x="809625" y="39052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recovery-item-0-2">
            <a:extLst>
              <a:ext uri="{FF2B5EF4-FFF2-40B4-BE49-F238E27FC236}">
                <a16:creationId xmlns:a16="http://schemas.microsoft.com/office/drawing/2014/main" id="{7328EB0A-B60D-4709-97B4-E6F208723971}"/>
              </a:ext>
            </a:extLst>
          </p:cNvPr>
          <p:cNvSpPr>
            <a:spLocks noGrp="1"/>
          </p:cNvSpPr>
          <p:nvPr/>
        </p:nvSpPr>
        <p:spPr>
          <a:xfrm>
            <a:off x="1171575" y="386715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полный снимок: записи, расчёты, настройки и sync</a:t>
            </a:r>
          </a:p>
        </p:txBody>
      </p:sp>
      <p:sp>
        <p:nvSpPr>
          <p:cNvPr id="16" name="recovery-check-0-3">
            <a:extLst>
              <a:ext uri="{FF2B5EF4-FFF2-40B4-BE49-F238E27FC236}">
                <a16:creationId xmlns:a16="http://schemas.microsoft.com/office/drawing/2014/main" id="{F8966C2E-EA46-4A2B-A4B3-9B4A34BF59DE}"/>
              </a:ext>
            </a:extLst>
          </p:cNvPr>
          <p:cNvSpPr>
            <a:spLocks noGrp="1"/>
          </p:cNvSpPr>
          <p:nvPr/>
        </p:nvSpPr>
        <p:spPr>
          <a:xfrm>
            <a:off x="809625" y="44958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recovery-item-0-3">
            <a:extLst>
              <a:ext uri="{FF2B5EF4-FFF2-40B4-BE49-F238E27FC236}">
                <a16:creationId xmlns:a16="http://schemas.microsoft.com/office/drawing/2014/main" id="{F26454A7-715B-4B1C-8513-4BD66450BBC6}"/>
              </a:ext>
            </a:extLst>
          </p:cNvPr>
          <p:cNvSpPr>
            <a:spLocks noGrp="1"/>
          </p:cNvSpPr>
          <p:nvPr/>
        </p:nvSpPr>
        <p:spPr>
          <a:xfrm>
            <a:off x="1171575" y="445770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без отдельных backup.json и project.json</a:t>
            </a:r>
          </a:p>
        </p:txBody>
      </p:sp>
      <p:sp>
        <p:nvSpPr>
          <p:cNvPr id="18" name="recovery-col-1">
            <a:extLst>
              <a:ext uri="{FF2B5EF4-FFF2-40B4-BE49-F238E27FC236}">
                <a16:creationId xmlns:a16="http://schemas.microsoft.com/office/drawing/2014/main" id="{29027DBC-2249-42CE-A15D-593BBF8A7155}"/>
              </a:ext>
            </a:extLst>
          </p:cNvPr>
          <p:cNvSpPr>
            <a:spLocks noGrp="1"/>
          </p:cNvSpPr>
          <p:nvPr/>
        </p:nvSpPr>
        <p:spPr>
          <a:xfrm>
            <a:off x="4333875" y="1695450"/>
            <a:ext cx="3333750" cy="3790950"/>
          </a:xfrm>
          <a:prstGeom prst="rect">
            <a:avLst/>
          </a:prstGeom>
          <a:solidFill>
            <a:srgbClr val="F1FBF7"/>
          </a:solidFill>
          <a:ln w="9525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recovery-title-1">
            <a:extLst>
              <a:ext uri="{FF2B5EF4-FFF2-40B4-BE49-F238E27FC236}">
                <a16:creationId xmlns:a16="http://schemas.microsoft.com/office/drawing/2014/main" id="{A1B275B7-3563-4D54-BED7-39A688A7715A}"/>
              </a:ext>
            </a:extLst>
          </p:cNvPr>
          <p:cNvSpPr>
            <a:spLocks noGrp="1"/>
          </p:cNvSpPr>
          <p:nvPr/>
        </p:nvSpPr>
        <p:spPr>
          <a:xfrm>
            <a:off x="4600575" y="1981200"/>
            <a:ext cx="2800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2100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ZIP-backup</a:t>
            </a:r>
          </a:p>
        </p:txBody>
      </p:sp>
      <p:sp>
        <p:nvSpPr>
          <p:cNvPr id="20" name="recovery-check-1-0">
            <a:extLst>
              <a:ext uri="{FF2B5EF4-FFF2-40B4-BE49-F238E27FC236}">
                <a16:creationId xmlns:a16="http://schemas.microsoft.com/office/drawing/2014/main" id="{EB330D83-58D5-4EB3-81E3-FB7DE4035C1B}"/>
              </a:ext>
            </a:extLst>
          </p:cNvPr>
          <p:cNvSpPr>
            <a:spLocks noGrp="1"/>
          </p:cNvSpPr>
          <p:nvPr/>
        </p:nvSpPr>
        <p:spPr>
          <a:xfrm>
            <a:off x="4619625" y="27241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recovery-item-1-0">
            <a:extLst>
              <a:ext uri="{FF2B5EF4-FFF2-40B4-BE49-F238E27FC236}">
                <a16:creationId xmlns:a16="http://schemas.microsoft.com/office/drawing/2014/main" id="{0963F366-55BD-4641-B388-09849D6CA8F2}"/>
              </a:ext>
            </a:extLst>
          </p:cNvPr>
          <p:cNvSpPr>
            <a:spLocks noGrp="1"/>
          </p:cNvSpPr>
          <p:nvPr/>
        </p:nvSpPr>
        <p:spPr>
          <a:xfrm>
            <a:off x="4981575" y="268605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полный проект и фотографии</a:t>
            </a:r>
          </a:p>
        </p:txBody>
      </p:sp>
      <p:sp>
        <p:nvSpPr>
          <p:cNvPr id="22" name="recovery-check-1-1">
            <a:extLst>
              <a:ext uri="{FF2B5EF4-FFF2-40B4-BE49-F238E27FC236}">
                <a16:creationId xmlns:a16="http://schemas.microsoft.com/office/drawing/2014/main" id="{F43FC4CB-7D18-498C-8596-158A1C5EB280}"/>
              </a:ext>
            </a:extLst>
          </p:cNvPr>
          <p:cNvSpPr>
            <a:spLocks noGrp="1"/>
          </p:cNvSpPr>
          <p:nvPr/>
        </p:nvSpPr>
        <p:spPr>
          <a:xfrm>
            <a:off x="4619625" y="33147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recovery-item-1-1">
            <a:extLst>
              <a:ext uri="{FF2B5EF4-FFF2-40B4-BE49-F238E27FC236}">
                <a16:creationId xmlns:a16="http://schemas.microsoft.com/office/drawing/2014/main" id="{05938F71-0064-467B-9612-5EC9DCD636A3}"/>
              </a:ext>
            </a:extLst>
          </p:cNvPr>
          <p:cNvSpPr>
            <a:spLocks noGrp="1"/>
          </p:cNvSpPr>
          <p:nvPr/>
        </p:nvSpPr>
        <p:spPr>
          <a:xfrm>
            <a:off x="4981575" y="327660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параметры и настройки</a:t>
            </a:r>
          </a:p>
        </p:txBody>
      </p:sp>
      <p:sp>
        <p:nvSpPr>
          <p:cNvPr id="24" name="recovery-check-1-2">
            <a:extLst>
              <a:ext uri="{FF2B5EF4-FFF2-40B4-BE49-F238E27FC236}">
                <a16:creationId xmlns:a16="http://schemas.microsoft.com/office/drawing/2014/main" id="{93A8AC5E-1C29-4655-8D86-C48B6AAA0705}"/>
              </a:ext>
            </a:extLst>
          </p:cNvPr>
          <p:cNvSpPr>
            <a:spLocks noGrp="1"/>
          </p:cNvSpPr>
          <p:nvPr/>
        </p:nvSpPr>
        <p:spPr>
          <a:xfrm>
            <a:off x="4619625" y="39052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recovery-item-1-2">
            <a:extLst>
              <a:ext uri="{FF2B5EF4-FFF2-40B4-BE49-F238E27FC236}">
                <a16:creationId xmlns:a16="http://schemas.microsoft.com/office/drawing/2014/main" id="{0F5C4372-F3E0-4657-ABFB-3E18D8503929}"/>
              </a:ext>
            </a:extLst>
          </p:cNvPr>
          <p:cNvSpPr>
            <a:spLocks noGrp="1"/>
          </p:cNvSpPr>
          <p:nvPr/>
        </p:nvSpPr>
        <p:spPr>
          <a:xfrm>
            <a:off x="4981575" y="386715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безопасная копия перед очисткой</a:t>
            </a:r>
          </a:p>
        </p:txBody>
      </p:sp>
      <p:sp>
        <p:nvSpPr>
          <p:cNvPr id="26" name="recovery-check-1-3">
            <a:extLst>
              <a:ext uri="{FF2B5EF4-FFF2-40B4-BE49-F238E27FC236}">
                <a16:creationId xmlns:a16="http://schemas.microsoft.com/office/drawing/2014/main" id="{EABA4EBE-1A89-48A7-A024-0BA18C95AA60}"/>
              </a:ext>
            </a:extLst>
          </p:cNvPr>
          <p:cNvSpPr>
            <a:spLocks noGrp="1"/>
          </p:cNvSpPr>
          <p:nvPr/>
        </p:nvSpPr>
        <p:spPr>
          <a:xfrm>
            <a:off x="4619625" y="44958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" name="recovery-item-1-3">
            <a:extLst>
              <a:ext uri="{FF2B5EF4-FFF2-40B4-BE49-F238E27FC236}">
                <a16:creationId xmlns:a16="http://schemas.microsoft.com/office/drawing/2014/main" id="{102DC1A2-4A89-4B67-B8E9-1EC39601D13A}"/>
              </a:ext>
            </a:extLst>
          </p:cNvPr>
          <p:cNvSpPr>
            <a:spLocks noGrp="1"/>
          </p:cNvSpPr>
          <p:nvPr/>
        </p:nvSpPr>
        <p:spPr>
          <a:xfrm>
            <a:off x="4981575" y="445770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восстановление после сбоя</a:t>
            </a:r>
          </a:p>
        </p:txBody>
      </p:sp>
      <p:sp>
        <p:nvSpPr>
          <p:cNvPr id="28" name="recovery-col-2">
            <a:extLst>
              <a:ext uri="{FF2B5EF4-FFF2-40B4-BE49-F238E27FC236}">
                <a16:creationId xmlns:a16="http://schemas.microsoft.com/office/drawing/2014/main" id="{54D828AF-515F-4052-9C99-66BE3E8DEE16}"/>
              </a:ext>
            </a:extLst>
          </p:cNvPr>
          <p:cNvSpPr>
            <a:spLocks noGrp="1"/>
          </p:cNvSpPr>
          <p:nvPr/>
        </p:nvSpPr>
        <p:spPr>
          <a:xfrm>
            <a:off x="8143875" y="1695450"/>
            <a:ext cx="3333750" cy="3790950"/>
          </a:xfrm>
          <a:prstGeom prst="rect">
            <a:avLst/>
          </a:prstGeom>
          <a:solidFill>
            <a:srgbClr val="FFF8F1"/>
          </a:solidFill>
          <a:ln w="9525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recovery-title-2">
            <a:extLst>
              <a:ext uri="{FF2B5EF4-FFF2-40B4-BE49-F238E27FC236}">
                <a16:creationId xmlns:a16="http://schemas.microsoft.com/office/drawing/2014/main" id="{E923799D-7A66-4903-A29A-4C8E29632FFD}"/>
              </a:ext>
            </a:extLst>
          </p:cNvPr>
          <p:cNvSpPr>
            <a:spLocks noGrp="1"/>
          </p:cNvSpPr>
          <p:nvPr/>
        </p:nvSpPr>
        <p:spPr>
          <a:xfrm>
            <a:off x="8410575" y="1981200"/>
            <a:ext cx="2800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2100" b="1">
                <a:solidFill>
                  <a:srgbClr val="C968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96812"/>
                </a:solidFill>
                <a:latin typeface="Arial"/>
                <a:ea typeface="Arial"/>
                <a:cs typeface="Arial"/>
              </a:rPr>
              <a:t>Проверка данных</a:t>
            </a:r>
          </a:p>
        </p:txBody>
      </p:sp>
      <p:sp>
        <p:nvSpPr>
          <p:cNvPr id="30" name="recovery-check-2-0">
            <a:extLst>
              <a:ext uri="{FF2B5EF4-FFF2-40B4-BE49-F238E27FC236}">
                <a16:creationId xmlns:a16="http://schemas.microsoft.com/office/drawing/2014/main" id="{C2F281B1-33E6-4CC8-ADF1-052169CAB979}"/>
              </a:ext>
            </a:extLst>
          </p:cNvPr>
          <p:cNvSpPr>
            <a:spLocks noGrp="1"/>
          </p:cNvSpPr>
          <p:nvPr/>
        </p:nvSpPr>
        <p:spPr>
          <a:xfrm>
            <a:off x="8429625" y="27241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C968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681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1" name="recovery-item-2-0">
            <a:extLst>
              <a:ext uri="{FF2B5EF4-FFF2-40B4-BE49-F238E27FC236}">
                <a16:creationId xmlns:a16="http://schemas.microsoft.com/office/drawing/2014/main" id="{814B7B5A-23C4-4471-BB63-2ADA63A43A2C}"/>
              </a:ext>
            </a:extLst>
          </p:cNvPr>
          <p:cNvSpPr>
            <a:spLocks noGrp="1"/>
          </p:cNvSpPr>
          <p:nvPr/>
        </p:nvSpPr>
        <p:spPr>
          <a:xfrm>
            <a:off x="8791575" y="268605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пропущенные фотографии</a:t>
            </a:r>
          </a:p>
        </p:txBody>
      </p:sp>
      <p:sp>
        <p:nvSpPr>
          <p:cNvPr id="32" name="recovery-check-2-1">
            <a:extLst>
              <a:ext uri="{FF2B5EF4-FFF2-40B4-BE49-F238E27FC236}">
                <a16:creationId xmlns:a16="http://schemas.microsoft.com/office/drawing/2014/main" id="{74F08ADB-FCB8-4257-AC58-DAB09C4A5E4D}"/>
              </a:ext>
            </a:extLst>
          </p:cNvPr>
          <p:cNvSpPr>
            <a:spLocks noGrp="1"/>
          </p:cNvSpPr>
          <p:nvPr/>
        </p:nvSpPr>
        <p:spPr>
          <a:xfrm>
            <a:off x="8429625" y="33147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C968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681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3" name="recovery-item-2-1">
            <a:extLst>
              <a:ext uri="{FF2B5EF4-FFF2-40B4-BE49-F238E27FC236}">
                <a16:creationId xmlns:a16="http://schemas.microsoft.com/office/drawing/2014/main" id="{258AF86D-17CF-4D0E-B1F5-A0215BEF1A40}"/>
              </a:ext>
            </a:extLst>
          </p:cNvPr>
          <p:cNvSpPr>
            <a:spLocks noGrp="1"/>
          </p:cNvSpPr>
          <p:nvPr/>
        </p:nvSpPr>
        <p:spPr>
          <a:xfrm>
            <a:off x="8791575" y="327660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битые ссылки</a:t>
            </a:r>
          </a:p>
        </p:txBody>
      </p:sp>
      <p:sp>
        <p:nvSpPr>
          <p:cNvPr id="34" name="recovery-check-2-2">
            <a:extLst>
              <a:ext uri="{FF2B5EF4-FFF2-40B4-BE49-F238E27FC236}">
                <a16:creationId xmlns:a16="http://schemas.microsoft.com/office/drawing/2014/main" id="{B2A135A8-9AD9-4E08-A0E0-1E5838F5054B}"/>
              </a:ext>
            </a:extLst>
          </p:cNvPr>
          <p:cNvSpPr>
            <a:spLocks noGrp="1"/>
          </p:cNvSpPr>
          <p:nvPr/>
        </p:nvSpPr>
        <p:spPr>
          <a:xfrm>
            <a:off x="8429625" y="39052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C968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681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5" name="recovery-item-2-2">
            <a:extLst>
              <a:ext uri="{FF2B5EF4-FFF2-40B4-BE49-F238E27FC236}">
                <a16:creationId xmlns:a16="http://schemas.microsoft.com/office/drawing/2014/main" id="{4FAEFB85-041E-4AB4-A9F5-67185652ACB3}"/>
              </a:ext>
            </a:extLst>
          </p:cNvPr>
          <p:cNvSpPr>
            <a:spLocks noGrp="1"/>
          </p:cNvSpPr>
          <p:nvPr/>
        </p:nvSpPr>
        <p:spPr>
          <a:xfrm>
            <a:off x="8791575" y="386715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неверные координаты</a:t>
            </a:r>
          </a:p>
        </p:txBody>
      </p:sp>
      <p:sp>
        <p:nvSpPr>
          <p:cNvPr id="36" name="recovery-check-2-3">
            <a:extLst>
              <a:ext uri="{FF2B5EF4-FFF2-40B4-BE49-F238E27FC236}">
                <a16:creationId xmlns:a16="http://schemas.microsoft.com/office/drawing/2014/main" id="{655382AA-5363-4DAA-AE84-B6532BE7C2E5}"/>
              </a:ext>
            </a:extLst>
          </p:cNvPr>
          <p:cNvSpPr>
            <a:spLocks noGrp="1"/>
          </p:cNvSpPr>
          <p:nvPr/>
        </p:nvSpPr>
        <p:spPr>
          <a:xfrm>
            <a:off x="8429625" y="44958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425" b="1">
                <a:solidFill>
                  <a:srgbClr val="C968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681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7" name="recovery-item-2-3">
            <a:extLst>
              <a:ext uri="{FF2B5EF4-FFF2-40B4-BE49-F238E27FC236}">
                <a16:creationId xmlns:a16="http://schemas.microsoft.com/office/drawing/2014/main" id="{4B93296D-5431-4D32-93C1-7C9C42C1ACDA}"/>
              </a:ext>
            </a:extLst>
          </p:cNvPr>
          <p:cNvSpPr>
            <a:spLocks noGrp="1"/>
          </p:cNvSpPr>
          <p:nvPr/>
        </p:nvSpPr>
        <p:spPr>
          <a:xfrm>
            <a:off x="8791575" y="445770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дубли ID утечек</a:t>
            </a:r>
          </a:p>
        </p:txBody>
      </p:sp>
      <p:sp>
        <p:nvSpPr>
          <p:cNvPr id="38" name="recovery-bottom-note">
            <a:extLst>
              <a:ext uri="{FF2B5EF4-FFF2-40B4-BE49-F238E27FC236}">
                <a16:creationId xmlns:a16="http://schemas.microsoft.com/office/drawing/2014/main" id="{2023240C-5787-4EFE-BAD9-A14C34BC7F02}"/>
              </a:ext>
            </a:extLst>
          </p:cNvPr>
          <p:cNvSpPr>
            <a:spLocks noGrp="1"/>
          </p:cNvSpPr>
          <p:nvPr/>
        </p:nvSpPr>
        <p:spPr>
          <a:xfrm>
            <a:off x="2286000" y="5772150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071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1A45"/>
                </a:solidFill>
                <a:latin typeface="Arial"/>
                <a:ea typeface="Arial"/>
                <a:cs typeface="Arial"/>
              </a:rPr>
              <a:t>При конфликте сначала создайте копию. Перезапись — только когда архив точно является источником истины.</a:t>
            </a:r>
          </a:p>
        </p:txBody>
      </p:sp>
    </p:spTree>
    <p:extLst>
      <p:ext uri="{BB962C8B-B14F-4D97-AF65-F5344CB8AC3E}">
        <p14:creationId xmlns:p14="http://schemas.microsoft.com/office/powerpoint/2010/main" val="285127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ection-17">
            <a:extLst>
              <a:ext uri="{FF2B5EF4-FFF2-40B4-BE49-F238E27FC236}">
                <a16:creationId xmlns:a16="http://schemas.microsoft.com/office/drawing/2014/main" id="{65ACEC63-5049-464A-BE98-482CC86BE6F6}"/>
              </a:ext>
            </a:extLst>
          </p:cNvPr>
          <p:cNvSpPr>
            <a:spLocks noGrp="1"/>
          </p:cNvSpPr>
          <p:nvPr/>
        </p:nvSpPr>
        <p:spPr>
          <a:xfrm>
            <a:off x="523875" y="323850"/>
            <a:ext cx="30480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ГОТОВО</a:t>
            </a:r>
          </a:p>
        </p:txBody>
      </p:sp>
      <p:sp>
        <p:nvSpPr>
          <p:cNvPr id="2" name="title-17">
            <a:extLst>
              <a:ext uri="{FF2B5EF4-FFF2-40B4-BE49-F238E27FC236}">
                <a16:creationId xmlns:a16="http://schemas.microsoft.com/office/drawing/2014/main" id="{A9B97161-F177-4DBE-85BA-8BDB2F2AC476}"/>
              </a:ext>
            </a:extLst>
          </p:cNvPr>
          <p:cNvSpPr>
            <a:spLocks noGrp="1"/>
          </p:cNvSpPr>
          <p:nvPr/>
        </p:nvSpPr>
        <p:spPr>
          <a:xfrm>
            <a:off x="523875" y="628650"/>
            <a:ext cx="11125200" cy="59055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Продукт готов к пилотному использованию</a:t>
            </a:r>
          </a:p>
        </p:txBody>
      </p:sp>
      <p:sp>
        <p:nvSpPr>
          <p:cNvPr id="3" name="rule-17">
            <a:extLst>
              <a:ext uri="{FF2B5EF4-FFF2-40B4-BE49-F238E27FC236}">
                <a16:creationId xmlns:a16="http://schemas.microsoft.com/office/drawing/2014/main" id="{6858FBE6-C0BB-425E-9468-3998D7924D8C}"/>
              </a:ext>
            </a:extLst>
          </p:cNvPr>
          <p:cNvSpPr>
            <a:spLocks noGrp="1"/>
          </p:cNvSpPr>
          <p:nvPr/>
        </p:nvSpPr>
        <p:spPr>
          <a:xfrm>
            <a:off x="523875" y="1314450"/>
            <a:ext cx="228600" cy="228600"/>
          </a:xfrm>
          <a:prstGeom prst="rect">
            <a:avLst/>
          </a:prstGeom>
          <a:solidFill>
            <a:srgbClr val="D8DDE6"/>
          </a:solidFill>
          <a:ln w="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-number-17">
            <a:extLst>
              <a:ext uri="{FF2B5EF4-FFF2-40B4-BE49-F238E27FC236}">
                <a16:creationId xmlns:a16="http://schemas.microsoft.com/office/drawing/2014/main" id="{8BE16C08-1330-4210-B618-B4B1B5E0F1FA}"/>
              </a:ext>
            </a:extLst>
          </p:cNvPr>
          <p:cNvSpPr>
            <a:spLocks noGrp="1"/>
          </p:cNvSpPr>
          <p:nvPr/>
        </p:nvSpPr>
        <p:spPr>
          <a:xfrm>
            <a:off x="523875" y="642937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link-РАЗДЕЛЫ">
            <a:hlinkClick r:id="rId3" action="ppaction://hlinksldjump"/>
            <a:extLst>
              <a:ext uri="{FF2B5EF4-FFF2-40B4-BE49-F238E27FC236}">
                <a16:creationId xmlns:a16="http://schemas.microsoft.com/office/drawing/2014/main" id="{1D5203A5-5667-49AC-9E0D-CFA821FF59BD}"/>
              </a:ext>
            </a:extLst>
          </p:cNvPr>
          <p:cNvSpPr>
            <a:spLocks noGrp="1"/>
          </p:cNvSpPr>
          <p:nvPr/>
        </p:nvSpPr>
        <p:spPr>
          <a:xfrm>
            <a:off x="8648700" y="63055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РАЗДЕЛЫ</a:t>
            </a:r>
          </a:p>
        </p:txBody>
      </p:sp>
      <p:sp>
        <p:nvSpPr>
          <p:cNvPr id="6" name="link-←">
            <a:hlinkClick r:id="rId4" action="ppaction://hlinksldjump"/>
            <a:extLst>
              <a:ext uri="{FF2B5EF4-FFF2-40B4-BE49-F238E27FC236}">
                <a16:creationId xmlns:a16="http://schemas.microsoft.com/office/drawing/2014/main" id="{7241B03E-AD94-4C4B-97B4-CA6F5D9E20C4}"/>
              </a:ext>
            </a:extLst>
          </p:cNvPr>
          <p:cNvSpPr>
            <a:spLocks noGrp="1"/>
          </p:cNvSpPr>
          <p:nvPr/>
        </p:nvSpPr>
        <p:spPr>
          <a:xfrm>
            <a:off x="9867900" y="6305550"/>
            <a:ext cx="571500" cy="361950"/>
          </a:xfrm>
          <a:prstGeom prst="roundRect">
            <a:avLst>
              <a:gd name="adj" fmla="val 21053"/>
            </a:avLst>
          </a:prstGeom>
          <a:solidFill>
            <a:srgbClr val="F3F5F8"/>
          </a:solidFill>
          <a:ln w="9525">
            <a:solidFill>
              <a:srgbClr val="D8DDE6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cxnSp>
        <p:nvCxnSpPr>
          <p:cNvPr id="62" name="final-line"/>
          <p:cNvCxnSpPr/>
          <p:nvPr/>
        </p:nvCxnSpPr>
        <p:spPr>
          <a:xfrm>
            <a:off x="952500" y="3048000"/>
            <a:ext cx="10287000" cy="0"/>
          </a:xfrm>
          <a:prstGeom prst="straightConnector1">
            <a:avLst/>
          </a:prstGeom>
          <a:ln w="28575">
            <a:solidFill>
              <a:srgbClr val="071A45"/>
            </a:solidFill>
            <a:prstDash val="solid"/>
          </a:ln>
        </p:spPr>
      </p:cxnSp>
      <p:sp>
        <p:nvSpPr>
          <p:cNvPr id="8" name="final-dot-0">
            <a:extLst>
              <a:ext uri="{FF2B5EF4-FFF2-40B4-BE49-F238E27FC236}">
                <a16:creationId xmlns:a16="http://schemas.microsoft.com/office/drawing/2014/main" id="{6E16D42E-EDBE-458E-B065-DD0DF4686F16}"/>
              </a:ext>
            </a:extLst>
          </p:cNvPr>
          <p:cNvSpPr>
            <a:spLocks noGrp="1"/>
          </p:cNvSpPr>
          <p:nvPr/>
        </p:nvSpPr>
        <p:spPr>
          <a:xfrm>
            <a:off x="809625" y="2809875"/>
            <a:ext cx="476250" cy="476250"/>
          </a:xfrm>
          <a:prstGeom prst="ellipse">
            <a:avLst/>
          </a:prstGeom>
          <a:solidFill>
            <a:srgbClr val="246BFD"/>
          </a:solidFill>
          <a:ln w="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final-num-0">
            <a:extLst>
              <a:ext uri="{FF2B5EF4-FFF2-40B4-BE49-F238E27FC236}">
                <a16:creationId xmlns:a16="http://schemas.microsoft.com/office/drawing/2014/main" id="{B9732B90-7BE0-4396-9CD7-C554C0AF49BC}"/>
              </a:ext>
            </a:extLst>
          </p:cNvPr>
          <p:cNvSpPr>
            <a:spLocks noGrp="1"/>
          </p:cNvSpPr>
          <p:nvPr/>
        </p:nvSpPr>
        <p:spPr>
          <a:xfrm>
            <a:off x="876300" y="2905125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final-label-0">
            <a:extLst>
              <a:ext uri="{FF2B5EF4-FFF2-40B4-BE49-F238E27FC236}">
                <a16:creationId xmlns:a16="http://schemas.microsoft.com/office/drawing/2014/main" id="{DC44CC5A-23F2-4B96-BEAE-6FFF84C0EF7B}"/>
              </a:ext>
            </a:extLst>
          </p:cNvPr>
          <p:cNvSpPr>
            <a:spLocks noGrp="1"/>
          </p:cNvSpPr>
          <p:nvPr/>
        </p:nvSpPr>
        <p:spPr>
          <a:xfrm>
            <a:off x="171450" y="3562350"/>
            <a:ext cx="1752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Создать</a:t>
            </a:r>
          </a:p>
        </p:txBody>
      </p:sp>
      <p:sp>
        <p:nvSpPr>
          <p:cNvPr id="11" name="final-dot-1">
            <a:extLst>
              <a:ext uri="{FF2B5EF4-FFF2-40B4-BE49-F238E27FC236}">
                <a16:creationId xmlns:a16="http://schemas.microsoft.com/office/drawing/2014/main" id="{75EAF20B-4A2C-42D4-951D-35416FF45151}"/>
              </a:ext>
            </a:extLst>
          </p:cNvPr>
          <p:cNvSpPr>
            <a:spLocks noGrp="1"/>
          </p:cNvSpPr>
          <p:nvPr/>
        </p:nvSpPr>
        <p:spPr>
          <a:xfrm>
            <a:off x="2847975" y="2809875"/>
            <a:ext cx="476250" cy="476250"/>
          </a:xfrm>
          <a:prstGeom prst="ellipse">
            <a:avLst/>
          </a:prstGeom>
          <a:solidFill>
            <a:srgbClr val="246BFD"/>
          </a:solidFill>
          <a:ln w="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final-num-1">
            <a:extLst>
              <a:ext uri="{FF2B5EF4-FFF2-40B4-BE49-F238E27FC236}">
                <a16:creationId xmlns:a16="http://schemas.microsoft.com/office/drawing/2014/main" id="{390F3776-7EB0-481F-AA9C-22D6EB205D77}"/>
              </a:ext>
            </a:extLst>
          </p:cNvPr>
          <p:cNvSpPr>
            <a:spLocks noGrp="1"/>
          </p:cNvSpPr>
          <p:nvPr/>
        </p:nvSpPr>
        <p:spPr>
          <a:xfrm>
            <a:off x="2914650" y="2905125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final-label-1">
            <a:extLst>
              <a:ext uri="{FF2B5EF4-FFF2-40B4-BE49-F238E27FC236}">
                <a16:creationId xmlns:a16="http://schemas.microsoft.com/office/drawing/2014/main" id="{B4F74834-27F5-4C6A-96A6-3997C48BAE11}"/>
              </a:ext>
            </a:extLst>
          </p:cNvPr>
          <p:cNvSpPr>
            <a:spLocks noGrp="1"/>
          </p:cNvSpPr>
          <p:nvPr/>
        </p:nvSpPr>
        <p:spPr>
          <a:xfrm>
            <a:off x="2209800" y="3562350"/>
            <a:ext cx="1752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Изменить</a:t>
            </a:r>
          </a:p>
        </p:txBody>
      </p:sp>
      <p:sp>
        <p:nvSpPr>
          <p:cNvPr id="14" name="final-dot-2">
            <a:extLst>
              <a:ext uri="{FF2B5EF4-FFF2-40B4-BE49-F238E27FC236}">
                <a16:creationId xmlns:a16="http://schemas.microsoft.com/office/drawing/2014/main" id="{126D46DD-F42C-471F-8D85-8A14D3F35E65}"/>
              </a:ext>
            </a:extLst>
          </p:cNvPr>
          <p:cNvSpPr>
            <a:spLocks noGrp="1"/>
          </p:cNvSpPr>
          <p:nvPr/>
        </p:nvSpPr>
        <p:spPr>
          <a:xfrm>
            <a:off x="4886325" y="2809875"/>
            <a:ext cx="476250" cy="476250"/>
          </a:xfrm>
          <a:prstGeom prst="ellipse">
            <a:avLst/>
          </a:prstGeom>
          <a:solidFill>
            <a:srgbClr val="246BFD"/>
          </a:solidFill>
          <a:ln w="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final-num-2">
            <a:extLst>
              <a:ext uri="{FF2B5EF4-FFF2-40B4-BE49-F238E27FC236}">
                <a16:creationId xmlns:a16="http://schemas.microsoft.com/office/drawing/2014/main" id="{9AD7892E-63C8-4A3A-8C5C-2F3AF3D77ABD}"/>
              </a:ext>
            </a:extLst>
          </p:cNvPr>
          <p:cNvSpPr>
            <a:spLocks noGrp="1"/>
          </p:cNvSpPr>
          <p:nvPr/>
        </p:nvSpPr>
        <p:spPr>
          <a:xfrm>
            <a:off x="4953000" y="2905125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final-label-2">
            <a:extLst>
              <a:ext uri="{FF2B5EF4-FFF2-40B4-BE49-F238E27FC236}">
                <a16:creationId xmlns:a16="http://schemas.microsoft.com/office/drawing/2014/main" id="{E8B5BADA-36F4-456A-91C1-03546611ADCE}"/>
              </a:ext>
            </a:extLst>
          </p:cNvPr>
          <p:cNvSpPr>
            <a:spLocks noGrp="1"/>
          </p:cNvSpPr>
          <p:nvPr/>
        </p:nvSpPr>
        <p:spPr>
          <a:xfrm>
            <a:off x="4248150" y="3562350"/>
            <a:ext cx="1752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Мониторинг</a:t>
            </a:r>
          </a:p>
        </p:txBody>
      </p:sp>
      <p:sp>
        <p:nvSpPr>
          <p:cNvPr id="17" name="final-dot-3">
            <a:extLst>
              <a:ext uri="{FF2B5EF4-FFF2-40B4-BE49-F238E27FC236}">
                <a16:creationId xmlns:a16="http://schemas.microsoft.com/office/drawing/2014/main" id="{FF3F1CE9-2DF2-4179-9DE3-91FF2F984577}"/>
              </a:ext>
            </a:extLst>
          </p:cNvPr>
          <p:cNvSpPr>
            <a:spLocks noGrp="1"/>
          </p:cNvSpPr>
          <p:nvPr/>
        </p:nvSpPr>
        <p:spPr>
          <a:xfrm>
            <a:off x="6924675" y="2809875"/>
            <a:ext cx="476250" cy="476250"/>
          </a:xfrm>
          <a:prstGeom prst="ellipse">
            <a:avLst/>
          </a:prstGeom>
          <a:solidFill>
            <a:srgbClr val="246BFD"/>
          </a:solidFill>
          <a:ln w="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final-num-3">
            <a:extLst>
              <a:ext uri="{FF2B5EF4-FFF2-40B4-BE49-F238E27FC236}">
                <a16:creationId xmlns:a16="http://schemas.microsoft.com/office/drawing/2014/main" id="{DA734B5B-51F0-45C9-B97F-858EED89839E}"/>
              </a:ext>
            </a:extLst>
          </p:cNvPr>
          <p:cNvSpPr>
            <a:spLocks noGrp="1"/>
          </p:cNvSpPr>
          <p:nvPr/>
        </p:nvSpPr>
        <p:spPr>
          <a:xfrm>
            <a:off x="6991350" y="2905125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final-label-3">
            <a:extLst>
              <a:ext uri="{FF2B5EF4-FFF2-40B4-BE49-F238E27FC236}">
                <a16:creationId xmlns:a16="http://schemas.microsoft.com/office/drawing/2014/main" id="{C7AE1B36-96E1-43A9-A67F-DA364341345C}"/>
              </a:ext>
            </a:extLst>
          </p:cNvPr>
          <p:cNvSpPr>
            <a:spLocks noGrp="1"/>
          </p:cNvSpPr>
          <p:nvPr/>
        </p:nvSpPr>
        <p:spPr>
          <a:xfrm>
            <a:off x="6286500" y="3562350"/>
            <a:ext cx="1752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Синхронизация</a:t>
            </a:r>
          </a:p>
        </p:txBody>
      </p:sp>
      <p:sp>
        <p:nvSpPr>
          <p:cNvPr id="20" name="final-dot-4">
            <a:extLst>
              <a:ext uri="{FF2B5EF4-FFF2-40B4-BE49-F238E27FC236}">
                <a16:creationId xmlns:a16="http://schemas.microsoft.com/office/drawing/2014/main" id="{236E918A-800B-40CA-8510-9C3AF7F54131}"/>
              </a:ext>
            </a:extLst>
          </p:cNvPr>
          <p:cNvSpPr>
            <a:spLocks noGrp="1"/>
          </p:cNvSpPr>
          <p:nvPr/>
        </p:nvSpPr>
        <p:spPr>
          <a:xfrm>
            <a:off x="8963025" y="2809875"/>
            <a:ext cx="476250" cy="476250"/>
          </a:xfrm>
          <a:prstGeom prst="ellipse">
            <a:avLst/>
          </a:prstGeom>
          <a:solidFill>
            <a:srgbClr val="246BFD"/>
          </a:solidFill>
          <a:ln w="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final-num-4">
            <a:extLst>
              <a:ext uri="{FF2B5EF4-FFF2-40B4-BE49-F238E27FC236}">
                <a16:creationId xmlns:a16="http://schemas.microsoft.com/office/drawing/2014/main" id="{04FFB722-3E2A-4DC8-988F-A15186260334}"/>
              </a:ext>
            </a:extLst>
          </p:cNvPr>
          <p:cNvSpPr>
            <a:spLocks noGrp="1"/>
          </p:cNvSpPr>
          <p:nvPr/>
        </p:nvSpPr>
        <p:spPr>
          <a:xfrm>
            <a:off x="9029700" y="2905125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final-label-4">
            <a:extLst>
              <a:ext uri="{FF2B5EF4-FFF2-40B4-BE49-F238E27FC236}">
                <a16:creationId xmlns:a16="http://schemas.microsoft.com/office/drawing/2014/main" id="{6D2D05BE-29D0-468E-AE4A-C24AAB9C3E1F}"/>
              </a:ext>
            </a:extLst>
          </p:cNvPr>
          <p:cNvSpPr>
            <a:spLocks noGrp="1"/>
          </p:cNvSpPr>
          <p:nvPr/>
        </p:nvSpPr>
        <p:spPr>
          <a:xfrm>
            <a:off x="8324850" y="3562350"/>
            <a:ext cx="1752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Backup</a:t>
            </a:r>
          </a:p>
        </p:txBody>
      </p:sp>
      <p:sp>
        <p:nvSpPr>
          <p:cNvPr id="23" name="final-dot-5">
            <a:extLst>
              <a:ext uri="{FF2B5EF4-FFF2-40B4-BE49-F238E27FC236}">
                <a16:creationId xmlns:a16="http://schemas.microsoft.com/office/drawing/2014/main" id="{4D6E097E-A0E2-44B9-A652-3E436AD7B78F}"/>
              </a:ext>
            </a:extLst>
          </p:cNvPr>
          <p:cNvSpPr>
            <a:spLocks noGrp="1"/>
          </p:cNvSpPr>
          <p:nvPr/>
        </p:nvSpPr>
        <p:spPr>
          <a:xfrm>
            <a:off x="10906125" y="2809875"/>
            <a:ext cx="476250" cy="476250"/>
          </a:xfrm>
          <a:prstGeom prst="ellipse">
            <a:avLst/>
          </a:prstGeom>
          <a:solidFill>
            <a:srgbClr val="11875D"/>
          </a:solidFill>
          <a:ln w="0">
            <a:solidFill>
              <a:srgbClr val="11875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final-num-5">
            <a:extLst>
              <a:ext uri="{FF2B5EF4-FFF2-40B4-BE49-F238E27FC236}">
                <a16:creationId xmlns:a16="http://schemas.microsoft.com/office/drawing/2014/main" id="{D4B9B211-88DB-4B17-843B-59E61C61815C}"/>
              </a:ext>
            </a:extLst>
          </p:cNvPr>
          <p:cNvSpPr>
            <a:spLocks noGrp="1"/>
          </p:cNvSpPr>
          <p:nvPr/>
        </p:nvSpPr>
        <p:spPr>
          <a:xfrm>
            <a:off x="10972800" y="2905125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" name="final-label-5">
            <a:extLst>
              <a:ext uri="{FF2B5EF4-FFF2-40B4-BE49-F238E27FC236}">
                <a16:creationId xmlns:a16="http://schemas.microsoft.com/office/drawing/2014/main" id="{4BD507AD-4C00-46E1-9C14-528595600A89}"/>
              </a:ext>
            </a:extLst>
          </p:cNvPr>
          <p:cNvSpPr>
            <a:spLocks noGrp="1"/>
          </p:cNvSpPr>
          <p:nvPr/>
        </p:nvSpPr>
        <p:spPr>
          <a:xfrm>
            <a:off x="10267950" y="3562350"/>
            <a:ext cx="1752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Восстановить</a:t>
            </a:r>
          </a:p>
        </p:txBody>
      </p:sp>
      <p:sp>
        <p:nvSpPr>
          <p:cNvPr id="26" name="final-message">
            <a:extLst>
              <a:ext uri="{FF2B5EF4-FFF2-40B4-BE49-F238E27FC236}">
                <a16:creationId xmlns:a16="http://schemas.microsoft.com/office/drawing/2014/main" id="{5B3C29F5-5773-4705-B601-EA0DEC17228D}"/>
              </a:ext>
            </a:extLst>
          </p:cNvPr>
          <p:cNvSpPr>
            <a:spLocks noGrp="1"/>
          </p:cNvSpPr>
          <p:nvPr/>
        </p:nvSpPr>
        <p:spPr>
          <a:xfrm>
            <a:off x="2000250" y="4762500"/>
            <a:ext cx="8191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71A45"/>
                </a:solidFill>
                <a:latin typeface="Arial"/>
                <a:ea typeface="Arial"/>
                <a:cs typeface="Arial"/>
              </a:defRPr>
            </a:pPr>
            <a:r>
              <a:rPr lang="ru-RU" sz="1725" b="1" dirty="0">
                <a:solidFill>
                  <a:srgbClr val="071A45"/>
                </a:solidFill>
                <a:latin typeface="Arial"/>
                <a:ea typeface="Arial"/>
                <a:cs typeface="Arial"/>
              </a:rPr>
              <a:t>Спасибо за внимание!</a:t>
            </a:r>
            <a:endParaRPr sz="1725" b="1" dirty="0">
              <a:solidFill>
                <a:srgbClr val="071A4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link-← ВЕРНУТЬСЯ К РАЗДЕЛАМ">
            <a:hlinkClick r:id="rId3" action="ppaction://hlinksldjump"/>
            <a:extLst>
              <a:ext uri="{FF2B5EF4-FFF2-40B4-BE49-F238E27FC236}">
                <a16:creationId xmlns:a16="http://schemas.microsoft.com/office/drawing/2014/main" id="{EE992684-63C9-4515-BF07-6F8CF33236D4}"/>
              </a:ext>
            </a:extLst>
          </p:cNvPr>
          <p:cNvSpPr>
            <a:spLocks noGrp="1"/>
          </p:cNvSpPr>
          <p:nvPr/>
        </p:nvSpPr>
        <p:spPr>
          <a:xfrm>
            <a:off x="4171950" y="5753100"/>
            <a:ext cx="3848100" cy="495300"/>
          </a:xfrm>
          <a:prstGeom prst="roundRect">
            <a:avLst>
              <a:gd name="adj" fmla="val 15385"/>
            </a:avLst>
          </a:prstGeom>
          <a:solidFill>
            <a:srgbClr val="246BFD"/>
          </a:solidFill>
          <a:ln w="9525">
            <a:solidFill>
              <a:srgbClr val="246BFD"/>
            </a:solidFill>
            <a:prstDash val="solid"/>
          </a:ln>
        </p:spPr>
        <p:txBody>
          <a:bodyPr lIns="76200" tIns="0" rIns="76200" bIns="0" anchor="ctr"/>
          <a:lstStyle/>
          <a:p>
            <a:pPr algn="ctr">
              <a:buNone/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← ВЕРНУТЬСЯ К РАЗДЕЛАМ</a:t>
            </a:r>
          </a:p>
        </p:txBody>
      </p:sp>
    </p:spTree>
    <p:extLst>
      <p:ext uri="{BB962C8B-B14F-4D97-AF65-F5344CB8AC3E}">
        <p14:creationId xmlns:p14="http://schemas.microsoft.com/office/powerpoint/2010/main" val="179971017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937</Words>
  <Application>Microsoft Office PowerPoint</Application>
  <DocSecurity>0</DocSecurity>
  <PresentationFormat>Широкоэкранный</PresentationFormat>
  <Paragraphs>277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0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Mukhiddin Umarjonov</cp:lastModifiedBy>
  <cp:revision>2</cp:revision>
  <dcterms:created xsi:type="dcterms:W3CDTF">2026-07-22T09:57:50Z</dcterms:created>
  <dcterms:modified xsi:type="dcterms:W3CDTF">2026-07-22T10:04:03Z</dcterms:modified>
</cp:coreProperties>
</file>